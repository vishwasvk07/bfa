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true" autoCompressPictures="0" embedTrueTypeFonts="true">
  <p:sldMasterIdLst>
    <p:sldMasterId id="2147483648" r:id="rId1"/>
  </p:sldMasterIdLst>
  <p:sldIdLst>
    <p:sldId id="256" r:id="rId2"/>
    <p:sldId id="257" r:id="rId3"/>
    <p:sldId id="301" r:id="rId57"/>
    <p:sldId id="281" r:id="rId37"/>
    <p:sldId id="262" r:id="rId8"/>
    <p:sldId id="263" r:id="rId9"/>
    <p:sldId id="282" r:id="rId38"/>
    <p:sldId id="283" r:id="rId39"/>
    <p:sldId id="284" r:id="rId40"/>
    <p:sldId id="285" r:id="rId41"/>
    <p:sldId id="286" r:id="rId42"/>
    <p:sldId id="287" r:id="rId43"/>
    <p:sldId id="288" r:id="rId44"/>
    <p:sldId id="289" r:id="rId45"/>
    <p:sldId id="290" r:id="rId46"/>
    <p:sldId id="291" r:id="rId47"/>
    <p:sldId id="292" r:id="rId48"/>
    <p:sldId id="293" r:id="rId49"/>
    <p:sldId id="294" r:id="rId50"/>
    <p:sldId id="295" r:id="rId51"/>
    <p:sldId id="296" r:id="rId52"/>
    <p:sldId id="297" r:id="rId53"/>
    <p:sldId id="298" r:id="rId54"/>
    <p:sldId id="299" r:id="rId55"/>
    <p:sldId id="300" r:id="rId56"/>
  </p:sldIdLst>
  <p:notesMasterIdLst>
    <p:notesMasterId r:id="rId27"/>
  </p:notesMasterIdLst>
  <p:sldSz cx="12191695" cy="6858000"/>
  <p:notesSz cx="6858000" cy="12191695"/>
  <p:embeddedFontLst>
    <p:embeddedFont>
      <p:font typeface="Caladea Bold"/>
      <p:regular r:id="rId201314"/>
    </p:embeddedFont>
    <p:embeddedFont>
      <p:font typeface="Carlito"/>
      <p:regular r:id="rId201315"/>
    </p:embeddedFont>
    <p:embeddedFont>
      <p:font typeface="Carlito Bold"/>
      <p:regular r:id="rId201316"/>
    </p:embeddedFont>
    <p:embeddedFont>
      <p:font typeface="Roboto Mono"/>
      <p:regular r:id="rId201317"/>
    </p:embeddedFont>
    <p:embeddedFont>
      <p:font typeface="Roboto Mono Bold"/>
      <p:regular r:id="rId2013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7" Type="http://schemas.openxmlformats.org/officeDocument/2006/relationships/slide" Target="slides/slide26.xml"/><Relationship Id="rId38" Type="http://schemas.openxmlformats.org/officeDocument/2006/relationships/slide" Target="slides/slide27.xml"/><Relationship Id="rId39" Type="http://schemas.openxmlformats.org/officeDocument/2006/relationships/slide" Target="slides/slide28.xml"/><Relationship Id="rId40" Type="http://schemas.openxmlformats.org/officeDocument/2006/relationships/slide" Target="slides/slide29.xml"/><Relationship Id="rId41" Type="http://schemas.openxmlformats.org/officeDocument/2006/relationships/slide" Target="slides/slide30.xml"/><Relationship Id="rId42" Type="http://schemas.openxmlformats.org/officeDocument/2006/relationships/slide" Target="slides/slide31.xml"/><Relationship Id="rId43" Type="http://schemas.openxmlformats.org/officeDocument/2006/relationships/slide" Target="slides/slide32.xml"/><Relationship Id="rId44" Type="http://schemas.openxmlformats.org/officeDocument/2006/relationships/slide" Target="slides/slide33.xml"/><Relationship Id="rId45" Type="http://schemas.openxmlformats.org/officeDocument/2006/relationships/slide" Target="slides/slide34.xml"/><Relationship Id="rId46" Type="http://schemas.openxmlformats.org/officeDocument/2006/relationships/slide" Target="slides/slide35.xml"/><Relationship Id="rId47" Type="http://schemas.openxmlformats.org/officeDocument/2006/relationships/slide" Target="slides/slide36.xml"/><Relationship Id="rId48" Type="http://schemas.openxmlformats.org/officeDocument/2006/relationships/slide" Target="slides/slide37.xml"/><Relationship Id="rId49" Type="http://schemas.openxmlformats.org/officeDocument/2006/relationships/slide" Target="slides/slide38.xml"/><Relationship Id="rId50" Type="http://schemas.openxmlformats.org/officeDocument/2006/relationships/slide" Target="slides/slide39.xml"/><Relationship Id="rId51" Type="http://schemas.openxmlformats.org/officeDocument/2006/relationships/slide" Target="slides/slide40.xml"/><Relationship Id="rId52" Type="http://schemas.openxmlformats.org/officeDocument/2006/relationships/slide" Target="slides/slide41.xml"/><Relationship Id="rId53" Type="http://schemas.openxmlformats.org/officeDocument/2006/relationships/slide" Target="slides/slide42.xml"/><Relationship Id="rId54" Type="http://schemas.openxmlformats.org/officeDocument/2006/relationships/slide" Target="slides/slide43.xml"/><Relationship Id="rId55" Type="http://schemas.openxmlformats.org/officeDocument/2006/relationships/slide" Target="slides/slide44.xml"/><Relationship Id="rId56" Type="http://schemas.openxmlformats.org/officeDocument/2006/relationships/slide" Target="slides/slide45.xml"/><Relationship Id="rId57" Type="http://schemas.openxmlformats.org/officeDocument/2006/relationships/slide" Target="slides/slide46.xml"/><Relationship Id="rId201314" Type="http://schemas.openxmlformats.org/officeDocument/2006/relationships/font" Target="fonts/201314.fntdata"/><Relationship Id="rId201315" Type="http://schemas.openxmlformats.org/officeDocument/2006/relationships/font" Target="fonts/201315.fntdata"/><Relationship Id="rId201316" Type="http://schemas.openxmlformats.org/officeDocument/2006/relationships/font" Target="fonts/201316.fntdata"/><Relationship Id="rId201317" Type="http://schemas.openxmlformats.org/officeDocument/2006/relationships/font" Target="fonts/201317.fntdata"/><Relationship Id="rId201318" Type="http://schemas.openxmlformats.org/officeDocument/2006/relationships/font" Target="fonts/201318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everyone. BFA stands for Build Full Stack Application.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everyone. Today we get every laptop ready, then write our first Python.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Roughly: 45-60 min setup, 10 min break/checkpoint, 45 min coding, 5 min homework.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B1F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-3-1.png"/><Relationship Id="rId3" Type="http://schemas.openxmlformats.org/officeDocument/2006/relationships/image" Target="../media/image-4-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16300" y="6375549"/>
            <a:ext cx="695208" cy="253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6B7F8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1</a:t>
            </a:r>
            <a:endParaRPr lang="en-US" sz="135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2436" y="539452"/>
            <a:ext cx="11385265" cy="589706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56475" y="2314377"/>
            <a:ext cx="10484778" cy="1950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800" b="1" spc="141" kern="100" dirty="0">
                <a:solidFill>
                  <a:srgbClr val="FFFFFF"/>
                </a:solidFill>
                <a:latin typeface="Caladea Bold" pitchFamily="34" charset="0"/>
                <a:ea typeface="Caladea Bold" pitchFamily="34" charset="-122"/>
                <a:cs typeface="Caladea Bold" pitchFamily="34" charset="-120"/>
              </a:rPr>
              <a:t>Introduction</a:t>
            </a:r>
            <a:endParaRPr lang="en-US" sz="12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3359" y="1207589"/>
            <a:ext cx="10363139" cy="3245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150" b="1" spc="800" kern="100" dirty="0">
                <a:solidFill>
                  <a:srgbClr val="1FA67A"/>
                </a:solidFill>
                <a:latin typeface="Carlito Bold" pitchFamily="34" charset="0"/>
                <a:ea typeface="Carlito Bold" pitchFamily="34" charset="-122"/>
                <a:cs typeface="Carlito Bold" pitchFamily="34" charset="-120"/>
              </a:rPr>
              <a:t>CLASS 2</a:t>
            </a:r>
            <a:endParaRPr lang="en-US" sz="2150" dirty="0"/>
          </a:p>
        </p:txBody>
      </p:sp>
      <p:sp>
        <p:nvSpPr>
          <p:cNvPr id="3" name="Text 1"/>
          <p:cNvSpPr/>
          <p:nvPr/>
        </p:nvSpPr>
        <p:spPr>
          <a:xfrm>
            <a:off x="853359" y="1828701"/>
            <a:ext cx="10484977" cy="16244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350" b="1" spc="59" kern="100" dirty="0">
                <a:solidFill>
                  <a:srgbClr val="FFFFFF"/>
                </a:solidFill>
                <a:latin typeface="Caladea Bold" pitchFamily="34" charset="0"/>
                <a:ea typeface="Caladea Bold" pitchFamily="34" charset="-122"/>
                <a:cs typeface="Caladea Bold" pitchFamily="34" charset="-120"/>
              </a:rPr>
              <a:t>Python fundamentals,</a:t>
            </a:r>
            <a:endParaRPr lang="en-US" sz="53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5350" b="1" spc="59" kern="100" dirty="0">
                <a:solidFill>
                  <a:srgbClr val="FFFFFF"/>
                </a:solidFill>
                <a:latin typeface="Caladea Bold" pitchFamily="34" charset="0"/>
                <a:ea typeface="Caladea Bold" pitchFamily="34" charset="-122"/>
                <a:cs typeface="Caladea Bold" pitchFamily="34" charset="-120"/>
              </a:rPr>
              <a:t>your first real programs</a:t>
            </a:r>
            <a:endParaRPr lang="en-US" sz="5350" dirty="0"/>
          </a:p>
        </p:txBody>
      </p:sp>
      <p:sp>
        <p:nvSpPr>
          <p:cNvPr id="4" name="Text 2"/>
          <p:cNvSpPr/>
          <p:nvPr/>
        </p:nvSpPr>
        <p:spPr>
          <a:xfrm>
            <a:off x="853359" y="4376490"/>
            <a:ext cx="9753554" cy="3657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F2B13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Variables  ·  Conditions  ·  Loops  ·  Functions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3359" y="5481828"/>
            <a:ext cx="10363139" cy="2849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50" dirty="0">
                <a:solidFill>
                  <a:srgbClr val="6B7F8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Hands-on course. No slides to memorize, just tasks to do.</a:t>
            </a:r>
            <a:endParaRPr lang="en-US" sz="1850" dirty="0"/>
          </a:p>
        </p:txBody>
      </p:sp>
      <p:sp>
        <p:nvSpPr>
          <p:cNvPr id="6" name="Text 4"/>
          <p:cNvSpPr/>
          <p:nvPr/>
        </p:nvSpPr>
        <p:spPr>
          <a:xfrm>
            <a:off x="11216300" y="6375549"/>
            <a:ext cx="695208" cy="253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6B7F8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5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16300" y="6375549"/>
            <a:ext cx="695208" cy="253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6B7F8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6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09585" y="593328"/>
            <a:ext cx="10972526" cy="609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b="1" spc="44" kern="100" dirty="0">
                <a:solidFill>
                  <a:srgbClr val="0B1F2A"/>
                </a:solidFill>
                <a:latin typeface="Caladea Bold" pitchFamily="34" charset="0"/>
                <a:ea typeface="Caladea Bold" pitchFamily="34" charset="-122"/>
                <a:cs typeface="Caladea Bold" pitchFamily="34" charset="-120"/>
              </a:rPr>
              <a:t>Today's plan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585" y="1828800"/>
            <a:ext cx="2011610" cy="3535660"/>
          </a:xfrm>
          <a:prstGeom prst="roundRect">
            <a:avLst>
              <a:gd name="adj" fmla="val 5818"/>
            </a:avLst>
          </a:prstGeom>
          <a:solidFill>
            <a:srgbClr val="EEF3F5"/>
          </a:solidFill>
          <a:ln w="12700">
            <a:solidFill>
              <a:srgbClr val="EEF3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92440" y="2072580"/>
            <a:ext cx="511956" cy="511969"/>
          </a:xfrm>
          <a:prstGeom prst="ellipse">
            <a:avLst/>
          </a:prstGeom>
          <a:solidFill>
            <a:srgbClr val="1FA67A"/>
          </a:solidFill>
          <a:ln w="12700">
            <a:solidFill>
              <a:srgbClr val="1FA67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87648" y="2162274"/>
            <a:ext cx="1121541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rlito Bold" pitchFamily="34" charset="0"/>
                <a:ea typeface="Carlito Bold" pitchFamily="34" charset="-122"/>
                <a:cs typeface="Carlito Bold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92440" y="2790130"/>
            <a:ext cx="1649669" cy="8649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250" b="1" dirty="0">
                <a:solidFill>
                  <a:srgbClr val="0B1F2A"/>
                </a:solidFill>
                <a:latin typeface="Carlito Bold" pitchFamily="34" charset="0"/>
                <a:ea typeface="Carlito Bold" pitchFamily="34" charset="-122"/>
                <a:cs typeface="Carlito Bold" pitchFamily="34" charset="-120"/>
              </a:rPr>
              <a:t>Python basics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792440" y="3765550"/>
            <a:ext cx="1649669" cy="10688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850" dirty="0">
                <a:solidFill>
                  <a:srgbClr val="6B7F8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Version, .py files, print and input</a:t>
            </a:r>
            <a:endParaRPr lang="en-US" sz="1850" dirty="0"/>
          </a:p>
        </p:txBody>
      </p:sp>
      <p:sp>
        <p:nvSpPr>
          <p:cNvPr id="9" name="Shape 7"/>
          <p:cNvSpPr/>
          <p:nvPr/>
        </p:nvSpPr>
        <p:spPr>
          <a:xfrm>
            <a:off x="2804050" y="1828800"/>
            <a:ext cx="2011610" cy="3535660"/>
          </a:xfrm>
          <a:prstGeom prst="roundRect">
            <a:avLst>
              <a:gd name="adj" fmla="val 5818"/>
            </a:avLst>
          </a:prstGeom>
          <a:solidFill>
            <a:srgbClr val="EEF3F5"/>
          </a:solidFill>
          <a:ln w="12700">
            <a:solidFill>
              <a:srgbClr val="EEF3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86906" y="2072580"/>
            <a:ext cx="511956" cy="511969"/>
          </a:xfrm>
          <a:prstGeom prst="ellipse">
            <a:avLst/>
          </a:prstGeom>
          <a:solidFill>
            <a:srgbClr val="1FA67A"/>
          </a:solidFill>
          <a:ln w="12700">
            <a:solidFill>
              <a:srgbClr val="1FA6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82113" y="2162274"/>
            <a:ext cx="1121541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rlito Bold" pitchFamily="34" charset="0"/>
                <a:ea typeface="Carlito Bold" pitchFamily="34" charset="-122"/>
                <a:cs typeface="Carlito Bold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2986906" y="2790130"/>
            <a:ext cx="2316402" cy="432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250" b="1" dirty="0">
                <a:solidFill>
                  <a:srgbClr val="0B1F2A"/>
                </a:solidFill>
                <a:latin typeface="Carlito Bold" pitchFamily="34" charset="0"/>
                <a:ea typeface="Carlito Bold" pitchFamily="34" charset="-122"/>
                <a:cs typeface="Carlito Bold" pitchFamily="34" charset="-120"/>
              </a:rPr>
              <a:t>Core ideas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2986906" y="3765550"/>
            <a:ext cx="1649669" cy="7125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850" dirty="0">
                <a:solidFill>
                  <a:srgbClr val="6B7F8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Variables, if, loops</a:t>
            </a:r>
            <a:endParaRPr lang="en-US" sz="1850" dirty="0"/>
          </a:p>
        </p:txBody>
      </p:sp>
      <p:sp>
        <p:nvSpPr>
          <p:cNvPr id="14" name="Shape 12"/>
          <p:cNvSpPr/>
          <p:nvPr/>
        </p:nvSpPr>
        <p:spPr>
          <a:xfrm>
            <a:off x="4998516" y="1828800"/>
            <a:ext cx="2011610" cy="3535660"/>
          </a:xfrm>
          <a:prstGeom prst="roundRect">
            <a:avLst>
              <a:gd name="adj" fmla="val 5818"/>
            </a:avLst>
          </a:prstGeom>
          <a:solidFill>
            <a:srgbClr val="EEF3F5"/>
          </a:solidFill>
          <a:ln w="12700">
            <a:solidFill>
              <a:srgbClr val="EEF3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81470" y="2072580"/>
            <a:ext cx="511956" cy="511969"/>
          </a:xfrm>
          <a:prstGeom prst="ellipse">
            <a:avLst/>
          </a:prstGeom>
          <a:solidFill>
            <a:srgbClr val="1FA67A"/>
          </a:solidFill>
          <a:ln w="12700">
            <a:solidFill>
              <a:srgbClr val="1FA67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76678" y="2162274"/>
            <a:ext cx="1121541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rlito Bold" pitchFamily="34" charset="0"/>
                <a:ea typeface="Carlito Bold" pitchFamily="34" charset="-122"/>
                <a:cs typeface="Carlito Bold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181470" y="2790130"/>
            <a:ext cx="2316402" cy="432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250" b="1" dirty="0">
                <a:solidFill>
                  <a:srgbClr val="0B1F2A"/>
                </a:solidFill>
                <a:latin typeface="Carlito Bold" pitchFamily="34" charset="0"/>
                <a:ea typeface="Carlito Bold" pitchFamily="34" charset="-122"/>
                <a:cs typeface="Carlito Bold" pitchFamily="34" charset="-120"/>
              </a:rPr>
              <a:t>Functions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5181470" y="3765550"/>
            <a:ext cx="1649669" cy="7125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850" dirty="0">
                <a:solidFill>
                  <a:srgbClr val="6B7F8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def, return, reuse</a:t>
            </a:r>
            <a:endParaRPr lang="en-US" sz="1850" dirty="0"/>
          </a:p>
        </p:txBody>
      </p:sp>
      <p:sp>
        <p:nvSpPr>
          <p:cNvPr id="19" name="Shape 17"/>
          <p:cNvSpPr/>
          <p:nvPr/>
        </p:nvSpPr>
        <p:spPr>
          <a:xfrm>
            <a:off x="7193080" y="1828800"/>
            <a:ext cx="2011610" cy="3535660"/>
          </a:xfrm>
          <a:prstGeom prst="roundRect">
            <a:avLst>
              <a:gd name="adj" fmla="val 5818"/>
            </a:avLst>
          </a:prstGeom>
          <a:solidFill>
            <a:srgbClr val="EEF3F5"/>
          </a:solidFill>
          <a:ln w="12700">
            <a:solidFill>
              <a:srgbClr val="EEF3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75936" y="2072580"/>
            <a:ext cx="511956" cy="511969"/>
          </a:xfrm>
          <a:prstGeom prst="ellipse">
            <a:avLst/>
          </a:prstGeom>
          <a:solidFill>
            <a:srgbClr val="3B82C4"/>
          </a:solidFill>
          <a:ln w="12700">
            <a:solidFill>
              <a:srgbClr val="3B82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71143" y="2162274"/>
            <a:ext cx="1121541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rlito Bold" pitchFamily="34" charset="0"/>
                <a:ea typeface="Carlito Bold" pitchFamily="34" charset="-122"/>
                <a:cs typeface="Carlito Bold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375936" y="2790130"/>
            <a:ext cx="2316402" cy="432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250" b="1" dirty="0">
                <a:solidFill>
                  <a:srgbClr val="0B1F2A"/>
                </a:solidFill>
                <a:latin typeface="Carlito Bold" pitchFamily="34" charset="0"/>
                <a:ea typeface="Carlito Bold" pitchFamily="34" charset="-122"/>
                <a:cs typeface="Carlito Bold" pitchFamily="34" charset="-120"/>
              </a:rPr>
              <a:t>Live practice</a:t>
            </a:r>
            <a:endParaRPr lang="en-US" sz="2250" dirty="0"/>
          </a:p>
        </p:txBody>
      </p:sp>
      <p:sp>
        <p:nvSpPr>
          <p:cNvPr id="23" name="Text 21"/>
          <p:cNvSpPr/>
          <p:nvPr/>
        </p:nvSpPr>
        <p:spPr>
          <a:xfrm>
            <a:off x="7375936" y="3765550"/>
            <a:ext cx="1649669" cy="7125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850" dirty="0">
                <a:solidFill>
                  <a:srgbClr val="6B7F8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Four practices together</a:t>
            </a:r>
            <a:endParaRPr lang="en-US" sz="1850" dirty="0"/>
          </a:p>
        </p:txBody>
      </p:sp>
      <p:sp>
        <p:nvSpPr>
          <p:cNvPr id="24" name="Shape 22"/>
          <p:cNvSpPr/>
          <p:nvPr/>
        </p:nvSpPr>
        <p:spPr>
          <a:xfrm>
            <a:off x="9387546" y="1828800"/>
            <a:ext cx="2011610" cy="3535660"/>
          </a:xfrm>
          <a:prstGeom prst="roundRect">
            <a:avLst>
              <a:gd name="adj" fmla="val 5818"/>
            </a:avLst>
          </a:prstGeom>
          <a:solidFill>
            <a:srgbClr val="EEF3F5"/>
          </a:solidFill>
          <a:ln w="12700">
            <a:solidFill>
              <a:srgbClr val="EEF3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570401" y="2072580"/>
            <a:ext cx="511956" cy="511969"/>
          </a:xfrm>
          <a:prstGeom prst="ellipse">
            <a:avLst/>
          </a:prstGeom>
          <a:solidFill>
            <a:srgbClr val="3B82C4"/>
          </a:solidFill>
          <a:ln w="12700">
            <a:solidFill>
              <a:srgbClr val="3B82C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265609" y="2162274"/>
            <a:ext cx="1121541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rlito Bold" pitchFamily="34" charset="0"/>
                <a:ea typeface="Carlito Bold" pitchFamily="34" charset="-122"/>
                <a:cs typeface="Carlito Bold" pitchFamily="34" charset="-120"/>
              </a:rPr>
              <a:t>5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9570401" y="2790130"/>
            <a:ext cx="2316402" cy="432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250" b="1" dirty="0">
                <a:solidFill>
                  <a:srgbClr val="0B1F2A"/>
                </a:solidFill>
                <a:latin typeface="Carlito Bold" pitchFamily="34" charset="0"/>
                <a:ea typeface="Carlito Bold" pitchFamily="34" charset="-122"/>
                <a:cs typeface="Carlito Bold" pitchFamily="34" charset="-120"/>
              </a:rPr>
              <a:t>Homework</a:t>
            </a:r>
            <a:endParaRPr lang="en-US" sz="2250" dirty="0"/>
          </a:p>
        </p:txBody>
      </p:sp>
      <p:sp>
        <p:nvSpPr>
          <p:cNvPr id="28" name="Text 26"/>
          <p:cNvSpPr/>
          <p:nvPr/>
        </p:nvSpPr>
        <p:spPr>
          <a:xfrm>
            <a:off x="9570401" y="3765550"/>
            <a:ext cx="1649669" cy="7125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850" dirty="0">
                <a:solidFill>
                  <a:srgbClr val="6B7F8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Practice after class</a:t>
            </a:r>
            <a:endParaRPr lang="en-US" sz="1850" dirty="0"/>
          </a:p>
        </p:txBody>
      </p:sp>
      <p:sp>
        <p:nvSpPr>
          <p:cNvPr id="29" name="Text 27"/>
          <p:cNvSpPr/>
          <p:nvPr/>
        </p:nvSpPr>
        <p:spPr>
          <a:xfrm>
            <a:off x="609585" y="5594350"/>
            <a:ext cx="11582110" cy="3562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850" dirty="0">
                <a:solidFill>
                  <a:srgbClr val="6B7F8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Green = Python ideas.  Blue = we practise.</a:t>
            </a:r>
            <a:endParaRPr lang="en-US" sz="1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12648" y="594360"/>
            <a:ext cx="10972800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0B1F2A"/>
                </a:solidFill>
                <a:latin typeface="Caladea Bold"/>
              </a:rPr>
              <a:t>The 8-week roadmap</a:t>
            </a:r>
          </a:p>
        </p:txBody>
      </p:sp>
      <p:sp>
        <p:nvSpPr>
          <p:cNvPr id="3" name="SlideNo"/>
          <p:cNvSpPr txBox="1"/>
          <p:nvPr/>
        </p:nvSpPr>
        <p:spPr>
          <a:xfrm>
            <a:off x="11219688" y="6373368"/>
            <a:ext cx="694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>
                <a:solidFill>
                  <a:srgbClr val="6B7F8A"/>
                </a:solidFill>
                <a:latin typeface="Carlito"/>
              </a:rPr>
              <a:t>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709928"/>
            <a:ext cx="5367528" cy="978408"/>
          </a:xfrm>
          <a:prstGeom prst="roundRect">
            <a:avLst>
              <a:gd name="adj" fmla="val 12000"/>
            </a:avLst>
          </a:prstGeom>
          <a:solidFill>
            <a:srgbClr val="1FA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50392" y="1920240"/>
            <a:ext cx="557784" cy="55778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920240"/>
            <a:ext cx="557784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>
                <a:solidFill>
                  <a:srgbClr val="1FA67A"/>
                </a:solidFill>
                <a:latin typeface="Carlito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19" y="1709928"/>
            <a:ext cx="3108960" cy="9784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50" b="1">
                <a:solidFill>
                  <a:srgbClr val="FFFFFF"/>
                </a:solidFill>
                <a:latin typeface="Carlito"/>
              </a:rPr>
              <a:t>Setup &amp; Tooling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07992" y="2011680"/>
            <a:ext cx="1344168" cy="365760"/>
          </a:xfrm>
          <a:prstGeom prst="roundRect">
            <a:avLst>
              <a:gd name="adj" fmla="val 30000"/>
            </a:avLst>
          </a:prstGeom>
          <a:solidFill>
            <a:srgbClr val="0B1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7992" y="2011680"/>
            <a:ext cx="13441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rlito"/>
              </a:rPr>
              <a:t>Complete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" y="2871216"/>
            <a:ext cx="5367528" cy="978408"/>
          </a:xfrm>
          <a:prstGeom prst="roundRect">
            <a:avLst>
              <a:gd name="adj" fmla="val 12000"/>
            </a:avLst>
          </a:prstGeom>
          <a:solidFill>
            <a:srgbClr val="3B8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0392" y="3081528"/>
            <a:ext cx="557784" cy="55778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081528"/>
            <a:ext cx="557784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>
                <a:solidFill>
                  <a:srgbClr val="3B82C4"/>
                </a:solidFill>
                <a:latin typeface="Carlito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19" y="2871216"/>
            <a:ext cx="3108960" cy="9784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50" b="1">
                <a:solidFill>
                  <a:srgbClr val="FFFFFF"/>
                </a:solidFill>
                <a:latin typeface="Carlito"/>
              </a:rPr>
              <a:t>Python Fundamentals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07992" y="3172968"/>
            <a:ext cx="1344168" cy="365760"/>
          </a:xfrm>
          <a:prstGeom prst="roundRect">
            <a:avLst>
              <a:gd name="adj" fmla="val 30000"/>
            </a:avLst>
          </a:prstGeom>
          <a:solidFill>
            <a:srgbClr val="0B1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992" y="3172968"/>
            <a:ext cx="13441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rlito"/>
              </a:rPr>
              <a:t>You are here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" y="4032504"/>
            <a:ext cx="5367528" cy="978408"/>
          </a:xfrm>
          <a:prstGeom prst="roundRect">
            <a:avLst>
              <a:gd name="adj" fmla="val 12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50392" y="4242816"/>
            <a:ext cx="557784" cy="557784"/>
          </a:xfrm>
          <a:prstGeom prst="ellipse">
            <a:avLst/>
          </a:prstGeom>
          <a:solidFill>
            <a:srgbClr val="3B8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" y="4242816"/>
            <a:ext cx="557784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rlito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19" y="4032504"/>
            <a:ext cx="4206240" cy="9784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50" b="1">
                <a:solidFill>
                  <a:srgbClr val="0B1F2A"/>
                </a:solidFill>
                <a:latin typeface="Carlito"/>
              </a:rPr>
              <a:t>JavaScript Fundamentals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" y="5193792"/>
            <a:ext cx="5367528" cy="978408"/>
          </a:xfrm>
          <a:prstGeom prst="roundRect">
            <a:avLst>
              <a:gd name="adj" fmla="val 12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50392" y="5404104"/>
            <a:ext cx="557784" cy="557784"/>
          </a:xfrm>
          <a:prstGeom prst="ellipse">
            <a:avLst/>
          </a:prstGeom>
          <a:solidFill>
            <a:srgbClr val="3B8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0392" y="5404104"/>
            <a:ext cx="557784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rlito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19" y="5193792"/>
            <a:ext cx="4206240" cy="9784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50" b="1">
                <a:solidFill>
                  <a:srgbClr val="0B1F2A"/>
                </a:solidFill>
                <a:latin typeface="Carlito"/>
              </a:rPr>
              <a:t>Backend with FastAPI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1709928"/>
            <a:ext cx="5367528" cy="978408"/>
          </a:xfrm>
          <a:prstGeom prst="roundRect">
            <a:avLst>
              <a:gd name="adj" fmla="val 12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55664" y="1920240"/>
            <a:ext cx="557784" cy="557784"/>
          </a:xfrm>
          <a:prstGeom prst="ellipse">
            <a:avLst/>
          </a:prstGeom>
          <a:solidFill>
            <a:srgbClr val="3B8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55664" y="1920240"/>
            <a:ext cx="557784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rlito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51192" y="1709928"/>
            <a:ext cx="4206240" cy="9784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50" b="1">
                <a:solidFill>
                  <a:srgbClr val="0B1F2A"/>
                </a:solidFill>
                <a:latin typeface="Carlito"/>
              </a:rPr>
              <a:t>HTML, CSS &amp; Vanilla JS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2871216"/>
            <a:ext cx="5367528" cy="978408"/>
          </a:xfrm>
          <a:prstGeom prst="roundRect">
            <a:avLst>
              <a:gd name="adj" fmla="val 12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455664" y="3081528"/>
            <a:ext cx="557784" cy="557784"/>
          </a:xfrm>
          <a:prstGeom prst="ellipse">
            <a:avLst/>
          </a:prstGeom>
          <a:solidFill>
            <a:srgbClr val="3B8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55664" y="3081528"/>
            <a:ext cx="557784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rlito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51192" y="2871216"/>
            <a:ext cx="4206240" cy="9784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50" b="1">
                <a:solidFill>
                  <a:srgbClr val="0B1F2A"/>
                </a:solidFill>
                <a:latin typeface="Carlito"/>
              </a:rPr>
              <a:t>React, Rebuilt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0" y="4032504"/>
            <a:ext cx="5367528" cy="978408"/>
          </a:xfrm>
          <a:prstGeom prst="roundRect">
            <a:avLst>
              <a:gd name="adj" fmla="val 12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55664" y="4242816"/>
            <a:ext cx="557784" cy="557784"/>
          </a:xfrm>
          <a:prstGeom prst="ellipse">
            <a:avLst/>
          </a:prstGeom>
          <a:solidFill>
            <a:srgbClr val="3B8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55664" y="4242816"/>
            <a:ext cx="557784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rlito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51192" y="4032504"/>
            <a:ext cx="4206240" cy="9784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50" b="1">
                <a:solidFill>
                  <a:srgbClr val="0B1F2A"/>
                </a:solidFill>
                <a:latin typeface="Carlito"/>
              </a:rPr>
              <a:t>Full-Stack Integration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5193792"/>
            <a:ext cx="5367528" cy="978408"/>
          </a:xfrm>
          <a:prstGeom prst="roundRect">
            <a:avLst>
              <a:gd name="adj" fmla="val 12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455664" y="5404104"/>
            <a:ext cx="557784" cy="557784"/>
          </a:xfrm>
          <a:prstGeom prst="ellipse">
            <a:avLst/>
          </a:prstGeom>
          <a:solidFill>
            <a:srgbClr val="3B8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55664" y="5404104"/>
            <a:ext cx="557784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rlito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51192" y="5193792"/>
            <a:ext cx="4206240" cy="9784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50" b="1">
                <a:solidFill>
                  <a:srgbClr val="0B1F2A"/>
                </a:solidFill>
                <a:latin typeface="Carlito"/>
              </a:rPr>
              <a:t>Capstone &amp; Demo Day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12648" y="594360"/>
            <a:ext cx="10972800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0B1F2A"/>
                </a:solidFill>
                <a:latin typeface="Caladea Bold"/>
              </a:rPr>
              <a:t>Setup check (minute 0)</a:t>
            </a:r>
          </a:p>
        </p:txBody>
      </p:sp>
      <p:sp>
        <p:nvSpPr>
          <p:cNvPr id="3" name="SlideNo"/>
          <p:cNvSpPr txBox="1"/>
          <p:nvPr/>
        </p:nvSpPr>
        <p:spPr>
          <a:xfrm>
            <a:off x="11219688" y="6373368"/>
            <a:ext cx="694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>
                <a:solidFill>
                  <a:srgbClr val="6B7F8A"/>
                </a:solidFill>
                <a:latin typeface="Carlito"/>
              </a:rPr>
              <a:t>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709928"/>
            <a:ext cx="10972800" cy="1207008"/>
          </a:xfrm>
          <a:prstGeom prst="roundRect">
            <a:avLst>
              <a:gd name="adj" fmla="val 12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8680" y="2057400"/>
            <a:ext cx="512064" cy="512064"/>
          </a:xfrm>
          <a:prstGeom prst="ellipse">
            <a:avLst/>
          </a:prstGeom>
          <a:solidFill>
            <a:srgbClr val="3B8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57400"/>
            <a:ext cx="51206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rlito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1801368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50" b="1">
                <a:solidFill>
                  <a:srgbClr val="0B1F2A"/>
                </a:solidFill>
                <a:latin typeface="Carlito"/>
              </a:rPr>
              <a:t>Python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167128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50" b="0">
                <a:solidFill>
                  <a:srgbClr val="6B7F8A"/>
                </a:solidFill>
                <a:latin typeface="Carlito"/>
              </a:rPr>
              <a:t>python3 --version      (Windows: python --version)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" y="3081528"/>
            <a:ext cx="10972800" cy="1207008"/>
          </a:xfrm>
          <a:prstGeom prst="roundRect">
            <a:avLst>
              <a:gd name="adj" fmla="val 12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8680" y="3429000"/>
            <a:ext cx="512064" cy="512064"/>
          </a:xfrm>
          <a:prstGeom prst="ellipse">
            <a:avLst/>
          </a:prstGeom>
          <a:solidFill>
            <a:srgbClr val="3B8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429000"/>
            <a:ext cx="51206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rlito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3172968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50" b="1">
                <a:solidFill>
                  <a:srgbClr val="0B1F2A"/>
                </a:solidFill>
                <a:latin typeface="Carlito"/>
              </a:rPr>
              <a:t>VS Code opens your folder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538728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50" b="0">
                <a:solidFill>
                  <a:srgbClr val="6B7F8A"/>
                </a:solidFill>
                <a:latin typeface="Carlito"/>
              </a:rPr>
              <a:t>Open the course folder, then Terminal, New Terminal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" y="4453128"/>
            <a:ext cx="10972800" cy="1207008"/>
          </a:xfrm>
          <a:prstGeom prst="roundRect">
            <a:avLst>
              <a:gd name="adj" fmla="val 12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68680" y="4800600"/>
            <a:ext cx="512064" cy="512064"/>
          </a:xfrm>
          <a:prstGeom prst="ellipse">
            <a:avLst/>
          </a:prstGeom>
          <a:solidFill>
            <a:srgbClr val="3B8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800600"/>
            <a:ext cx="51206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rlito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544568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50" b="1">
                <a:solidFill>
                  <a:srgbClr val="0B1F2A"/>
                </a:solidFill>
                <a:latin typeface="Carlito"/>
              </a:rPr>
              <a:t>You can run a file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4910328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50" b="0">
                <a:solidFill>
                  <a:srgbClr val="6B7F8A"/>
                </a:solidFill>
                <a:latin typeface="Carlito"/>
              </a:rPr>
              <a:t>Save print("Hello") in a .py file and run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" y="59893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50" b="0">
                <a:solidFill>
                  <a:srgbClr val="6B7F8A"/>
                </a:solidFill>
                <a:latin typeface="Carlito"/>
              </a:rPr>
              <a:t>Stuck? Fix it now, before we start.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12648" y="594360"/>
            <a:ext cx="10972800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0B1F2A"/>
                </a:solidFill>
                <a:latin typeface="Caladea Bold"/>
              </a:rPr>
              <a:t>1. Python version</a:t>
            </a:r>
          </a:p>
        </p:txBody>
      </p:sp>
      <p:sp>
        <p:nvSpPr>
          <p:cNvPr id="3" name="SlideNo"/>
          <p:cNvSpPr txBox="1"/>
          <p:nvPr/>
        </p:nvSpPr>
        <p:spPr>
          <a:xfrm>
            <a:off x="11219688" y="6373368"/>
            <a:ext cx="694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>
                <a:solidFill>
                  <a:srgbClr val="6B7F8A"/>
                </a:solidFill>
                <a:latin typeface="Carlito"/>
              </a:rPr>
              <a:t>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709928"/>
            <a:ext cx="4937760" cy="822960"/>
          </a:xfrm>
          <a:prstGeom prst="roundRect">
            <a:avLst>
              <a:gd name="adj" fmla="val 12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41248" y="2020824"/>
            <a:ext cx="201168" cy="201168"/>
          </a:xfrm>
          <a:prstGeom prst="ellipse">
            <a:avLst/>
          </a:prstGeom>
          <a:solidFill>
            <a:srgbClr val="1FA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2728" y="1709928"/>
            <a:ext cx="40690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0B1F2A"/>
                </a:solidFill>
                <a:latin typeface="Carlito"/>
              </a:rPr>
              <a:t>Check it with --version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" y="2715768"/>
            <a:ext cx="4937760" cy="822960"/>
          </a:xfrm>
          <a:prstGeom prst="roundRect">
            <a:avLst>
              <a:gd name="adj" fmla="val 12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41248" y="3026664"/>
            <a:ext cx="201168" cy="201168"/>
          </a:xfrm>
          <a:prstGeom prst="ellipse">
            <a:avLst/>
          </a:prstGeom>
          <a:solidFill>
            <a:srgbClr val="1FA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52728" y="2715768"/>
            <a:ext cx="40690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0B1F2A"/>
                </a:solidFill>
                <a:latin typeface="Carlito"/>
              </a:rPr>
              <a:t>Mac uses python3, Windows uses python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" y="3721608"/>
            <a:ext cx="4937760" cy="822960"/>
          </a:xfrm>
          <a:prstGeom prst="roundRect">
            <a:avLst>
              <a:gd name="adj" fmla="val 12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8" y="4032504"/>
            <a:ext cx="201168" cy="201168"/>
          </a:xfrm>
          <a:prstGeom prst="ellipse">
            <a:avLst/>
          </a:prstGeom>
          <a:solidFill>
            <a:srgbClr val="1FA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52728" y="3721608"/>
            <a:ext cx="40690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0B1F2A"/>
                </a:solidFill>
                <a:latin typeface="Carlito"/>
              </a:rPr>
              <a:t>Why it matters: syntax and libraries change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" y="4727448"/>
            <a:ext cx="4937760" cy="822960"/>
          </a:xfrm>
          <a:prstGeom prst="roundRect">
            <a:avLst>
              <a:gd name="adj" fmla="val 12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41248" y="5038344"/>
            <a:ext cx="201168" cy="201168"/>
          </a:xfrm>
          <a:prstGeom prst="ellipse">
            <a:avLst/>
          </a:prstGeom>
          <a:solidFill>
            <a:srgbClr val="1FA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52728" y="4727448"/>
            <a:ext cx="40690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0B1F2A"/>
                </a:solidFill>
                <a:latin typeface="Carlito"/>
              </a:rPr>
              <a:t>Same version = same results for everyone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52160" y="1709928"/>
            <a:ext cx="5733288" cy="4023360"/>
          </a:xfrm>
          <a:prstGeom prst="roundRect">
            <a:avLst>
              <a:gd name="adj" fmla="val 4000"/>
            </a:avLst>
          </a:prstGeom>
          <a:solidFill>
            <a:srgbClr val="0B1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0" y="1938528"/>
            <a:ext cx="5184648" cy="3566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E2E8F0"/>
                </a:solidFill>
                <a:latin typeface="Courier New"/>
              </a:rPr>
              <a:t># Mac</a:t>
            </a:r>
          </a:p>
          <a:p>
            <a:pPr algn="l"/>
            <a:r>
              <a:rPr sz="1800" b="0">
                <a:solidFill>
                  <a:srgbClr val="E2E8F0"/>
                </a:solidFill>
                <a:latin typeface="Courier New"/>
              </a:rPr>
              <a:t>python3 --version</a:t>
            </a:r>
          </a:p>
          <a:p>
            <a:pPr algn="l"/>
            <a:r>
              <a:rPr sz="1800" b="0">
                <a:solidFill>
                  <a:srgbClr val="E2E8F0"/>
                </a:solidFill>
                <a:latin typeface="Courier New"/>
              </a:rPr>
              <a:t/>
            </a:r>
          </a:p>
          <a:p>
            <a:pPr algn="l"/>
            <a:r>
              <a:rPr sz="1800" b="0">
                <a:solidFill>
                  <a:srgbClr val="E2E8F0"/>
                </a:solidFill>
                <a:latin typeface="Courier New"/>
              </a:rPr>
              <a:t># Windows</a:t>
            </a:r>
          </a:p>
          <a:p>
            <a:pPr algn="l"/>
            <a:r>
              <a:rPr sz="1800" b="0">
                <a:solidFill>
                  <a:srgbClr val="E2E8F0"/>
                </a:solidFill>
                <a:latin typeface="Courier New"/>
              </a:rPr>
              <a:t>python --version</a:t>
            </a:r>
          </a:p>
          <a:p>
            <a:pPr algn="l"/>
            <a:r>
              <a:rPr sz="1800" b="0">
                <a:solidFill>
                  <a:srgbClr val="E2E8F0"/>
                </a:solidFill>
                <a:latin typeface="Courier New"/>
              </a:rPr>
              <a:t/>
            </a:r>
          </a:p>
          <a:p>
            <a:pPr algn="l"/>
            <a:r>
              <a:rPr sz="1800" b="0">
                <a:solidFill>
                  <a:srgbClr val="E2E8F0"/>
                </a:solidFill>
                <a:latin typeface="Courier New"/>
              </a:rPr>
              <a:t># You should see</a:t>
            </a:r>
          </a:p>
          <a:p>
            <a:pPr algn="l"/>
            <a:r>
              <a:rPr sz="1800" b="0">
                <a:solidFill>
                  <a:srgbClr val="E2E8F0"/>
                </a:solidFill>
                <a:latin typeface="Courier New"/>
              </a:rPr>
              <a:t>Python 3.12.x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50" b="0">
                <a:solidFill>
                  <a:srgbClr val="6B7F8A"/>
                </a:solidFill>
                <a:latin typeface="Carlito"/>
              </a:rPr>
              <a:t>File: lecture/01_python_version.txt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12648" y="594360"/>
            <a:ext cx="10972800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0B1F2A"/>
                </a:solidFill>
                <a:latin typeface="Caladea Bold"/>
              </a:rPr>
              <a:t>2. The .py file</a:t>
            </a:r>
          </a:p>
        </p:txBody>
      </p:sp>
      <p:sp>
        <p:nvSpPr>
          <p:cNvPr id="3" name="SlideNo"/>
          <p:cNvSpPr txBox="1"/>
          <p:nvPr/>
        </p:nvSpPr>
        <p:spPr>
          <a:xfrm>
            <a:off x="11219688" y="6373368"/>
            <a:ext cx="694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>
                <a:solidFill>
                  <a:srgbClr val="6B7F8A"/>
                </a:solidFill>
                <a:latin typeface="Carlito"/>
              </a:rPr>
              <a:t>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709928"/>
            <a:ext cx="4937760" cy="822960"/>
          </a:xfrm>
          <a:prstGeom prst="roundRect">
            <a:avLst>
              <a:gd name="adj" fmla="val 12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41248" y="2020824"/>
            <a:ext cx="201168" cy="201168"/>
          </a:xfrm>
          <a:prstGeom prst="ellipse">
            <a:avLst/>
          </a:prstGeom>
          <a:solidFill>
            <a:srgbClr val="1FA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2728" y="1709928"/>
            <a:ext cx="40690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0B1F2A"/>
                </a:solidFill>
                <a:latin typeface="Carlito"/>
              </a:rPr>
              <a:t>A text file that holds Python code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" y="2715768"/>
            <a:ext cx="4937760" cy="822960"/>
          </a:xfrm>
          <a:prstGeom prst="roundRect">
            <a:avLst>
              <a:gd name="adj" fmla="val 12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41248" y="3026664"/>
            <a:ext cx="201168" cy="201168"/>
          </a:xfrm>
          <a:prstGeom prst="ellipse">
            <a:avLst/>
          </a:prstGeom>
          <a:solidFill>
            <a:srgbClr val="1FA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52728" y="2715768"/>
            <a:ext cx="40690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0B1F2A"/>
                </a:solidFill>
                <a:latin typeface="Carlito"/>
              </a:rPr>
              <a:t>Create it, write code, save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" y="3721608"/>
            <a:ext cx="4937760" cy="822960"/>
          </a:xfrm>
          <a:prstGeom prst="roundRect">
            <a:avLst>
              <a:gd name="adj" fmla="val 12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8" y="4032504"/>
            <a:ext cx="201168" cy="201168"/>
          </a:xfrm>
          <a:prstGeom prst="ellipse">
            <a:avLst/>
          </a:prstGeom>
          <a:solidFill>
            <a:srgbClr val="1FA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52728" y="3721608"/>
            <a:ext cx="40690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0B1F2A"/>
                </a:solidFill>
                <a:latin typeface="Carlito"/>
              </a:rPr>
              <a:t>Run it from the terminal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" y="4727448"/>
            <a:ext cx="4937760" cy="822960"/>
          </a:xfrm>
          <a:prstGeom prst="roundRect">
            <a:avLst>
              <a:gd name="adj" fmla="val 12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41248" y="5038344"/>
            <a:ext cx="201168" cy="201168"/>
          </a:xfrm>
          <a:prstGeom prst="ellipse">
            <a:avLst/>
          </a:prstGeom>
          <a:solidFill>
            <a:srgbClr val="1FA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52728" y="4727448"/>
            <a:ext cx="40690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0B1F2A"/>
                </a:solidFill>
                <a:latin typeface="Carlito"/>
              </a:rPr>
              <a:t>Windows: python hello.py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52160" y="1709928"/>
            <a:ext cx="5733288" cy="4023360"/>
          </a:xfrm>
          <a:prstGeom prst="roundRect">
            <a:avLst>
              <a:gd name="adj" fmla="val 4000"/>
            </a:avLst>
          </a:prstGeom>
          <a:solidFill>
            <a:srgbClr val="0B1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0" y="1938528"/>
            <a:ext cx="5184648" cy="3566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E2E8F0"/>
                </a:solidFill>
                <a:latin typeface="Courier New"/>
              </a:rPr>
              <a:t># hello.py</a:t>
            </a:r>
          </a:p>
          <a:p>
            <a:pPr algn="l"/>
            <a:r>
              <a:rPr sz="1800" b="0">
                <a:solidFill>
                  <a:srgbClr val="E2E8F0"/>
                </a:solidFill>
                <a:latin typeface="Courier New"/>
              </a:rPr>
              <a:t>print("Hello, world")</a:t>
            </a:r>
          </a:p>
          <a:p>
            <a:pPr algn="l"/>
            <a:r>
              <a:rPr sz="1800" b="0">
                <a:solidFill>
                  <a:srgbClr val="E2E8F0"/>
                </a:solidFill>
                <a:latin typeface="Courier New"/>
              </a:rPr>
              <a:t/>
            </a:r>
          </a:p>
          <a:p>
            <a:pPr algn="l"/>
            <a:r>
              <a:rPr sz="1800" b="0">
                <a:solidFill>
                  <a:srgbClr val="E2E8F0"/>
                </a:solidFill>
                <a:latin typeface="Courier New"/>
              </a:rPr>
              <a:t># in the terminal</a:t>
            </a:r>
          </a:p>
          <a:p>
            <a:pPr algn="l"/>
            <a:r>
              <a:rPr sz="1800" b="0">
                <a:solidFill>
                  <a:srgbClr val="E2E8F0"/>
                </a:solidFill>
                <a:latin typeface="Courier New"/>
              </a:rPr>
              <a:t>python3 hello.py</a:t>
            </a:r>
          </a:p>
          <a:p>
            <a:pPr algn="l"/>
            <a:r>
              <a:rPr sz="1800" b="0">
                <a:solidFill>
                  <a:srgbClr val="E2E8F0"/>
                </a:solidFill>
                <a:latin typeface="Courier New"/>
              </a:rPr>
              <a:t>Hello, world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50" b="0">
                <a:solidFill>
                  <a:srgbClr val="6B7F8A"/>
                </a:solidFill>
                <a:latin typeface="Carlito"/>
              </a:rPr>
              <a:t>File: lecture/02_hello.py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12648" y="594360"/>
            <a:ext cx="10972800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0B1F2A"/>
                </a:solidFill>
                <a:latin typeface="Caladea Bold"/>
              </a:rPr>
              <a:t>3. Print and input</a:t>
            </a:r>
          </a:p>
        </p:txBody>
      </p:sp>
      <p:sp>
        <p:nvSpPr>
          <p:cNvPr id="3" name="SlideNo"/>
          <p:cNvSpPr txBox="1"/>
          <p:nvPr/>
        </p:nvSpPr>
        <p:spPr>
          <a:xfrm>
            <a:off x="11219688" y="6373368"/>
            <a:ext cx="694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>
                <a:solidFill>
                  <a:srgbClr val="6B7F8A"/>
                </a:solidFill>
                <a:latin typeface="Carlito"/>
              </a:rPr>
              <a:t>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709928"/>
            <a:ext cx="4937760" cy="822960"/>
          </a:xfrm>
          <a:prstGeom prst="roundRect">
            <a:avLst>
              <a:gd name="adj" fmla="val 12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41248" y="2020824"/>
            <a:ext cx="201168" cy="201168"/>
          </a:xfrm>
          <a:prstGeom prst="ellipse">
            <a:avLst/>
          </a:prstGeom>
          <a:solidFill>
            <a:srgbClr val="1FA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2728" y="1709928"/>
            <a:ext cx="40690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0B1F2A"/>
                </a:solidFill>
                <a:latin typeface="Carlito"/>
              </a:rPr>
              <a:t>print() shows output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" y="2715768"/>
            <a:ext cx="4937760" cy="822960"/>
          </a:xfrm>
          <a:prstGeom prst="roundRect">
            <a:avLst>
              <a:gd name="adj" fmla="val 12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41248" y="3026664"/>
            <a:ext cx="201168" cy="201168"/>
          </a:xfrm>
          <a:prstGeom prst="ellipse">
            <a:avLst/>
          </a:prstGeom>
          <a:solidFill>
            <a:srgbClr val="1FA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52728" y="2715768"/>
            <a:ext cx="40690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0B1F2A"/>
                </a:solidFill>
                <a:latin typeface="Carlito"/>
              </a:rPr>
              <a:t>input() asks the user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" y="3721608"/>
            <a:ext cx="4937760" cy="822960"/>
          </a:xfrm>
          <a:prstGeom prst="roundRect">
            <a:avLst>
              <a:gd name="adj" fmla="val 12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8" y="4032504"/>
            <a:ext cx="201168" cy="201168"/>
          </a:xfrm>
          <a:prstGeom prst="ellipse">
            <a:avLst/>
          </a:prstGeom>
          <a:solidFill>
            <a:srgbClr val="1FA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52728" y="3721608"/>
            <a:ext cx="40690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0B1F2A"/>
                </a:solidFill>
                <a:latin typeface="Carlito"/>
              </a:rPr>
              <a:t>input() always returns a string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" y="4727448"/>
            <a:ext cx="4937760" cy="822960"/>
          </a:xfrm>
          <a:prstGeom prst="roundRect">
            <a:avLst>
              <a:gd name="adj" fmla="val 12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41248" y="5038344"/>
            <a:ext cx="201168" cy="201168"/>
          </a:xfrm>
          <a:prstGeom prst="ellipse">
            <a:avLst/>
          </a:prstGeom>
          <a:solidFill>
            <a:srgbClr val="1FA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52728" y="4727448"/>
            <a:ext cx="40690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0B1F2A"/>
                </a:solidFill>
                <a:latin typeface="Carlito"/>
              </a:rPr>
              <a:t>Convert with int() or float()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52160" y="1709928"/>
            <a:ext cx="5733288" cy="4023360"/>
          </a:xfrm>
          <a:prstGeom prst="roundRect">
            <a:avLst>
              <a:gd name="adj" fmla="val 4000"/>
            </a:avLst>
          </a:prstGeom>
          <a:solidFill>
            <a:srgbClr val="0B1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0" y="1938528"/>
            <a:ext cx="5184648" cy="3566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E2E8F0"/>
                </a:solidFill>
                <a:latin typeface="Courier New"/>
              </a:rPr>
              <a:t>name = input("Your name: ")</a:t>
            </a:r>
          </a:p>
          <a:p>
            <a:pPr algn="l"/>
            <a:r>
              <a:rPr sz="1600" b="0">
                <a:solidFill>
                  <a:srgbClr val="E2E8F0"/>
                </a:solidFill>
                <a:latin typeface="Courier New"/>
              </a:rPr>
              <a:t>print("Hello,", name)</a:t>
            </a:r>
          </a:p>
          <a:p>
            <a:pPr algn="l"/>
            <a:r>
              <a:rPr sz="1600" b="0">
                <a:solidFill>
                  <a:srgbClr val="E2E8F0"/>
                </a:solidFill>
                <a:latin typeface="Courier New"/>
              </a:rPr>
              <a:t/>
            </a:r>
          </a:p>
          <a:p>
            <a:pPr algn="l"/>
            <a:r>
              <a:rPr sz="1600" b="0">
                <a:solidFill>
                  <a:srgbClr val="E2E8F0"/>
                </a:solidFill>
                <a:latin typeface="Courier New"/>
              </a:rPr>
              <a:t>age = input("Age: ")  # a string</a:t>
            </a:r>
          </a:p>
          <a:p>
            <a:pPr algn="l"/>
            <a:r>
              <a:rPr sz="1600" b="0">
                <a:solidFill>
                  <a:srgbClr val="E2E8F0"/>
                </a:solidFill>
                <a:latin typeface="Courier New"/>
              </a:rPr>
              <a:t>print(int(age) + 1)   # convert first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50" b="0">
                <a:solidFill>
                  <a:srgbClr val="6B7F8A"/>
                </a:solidFill>
                <a:latin typeface="Carlito"/>
              </a:rPr>
              <a:t>File: lecture/03_print_and_input.py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12648" y="594360"/>
            <a:ext cx="10972800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0B1F2A"/>
                </a:solidFill>
                <a:latin typeface="Caladea Bold"/>
              </a:rPr>
              <a:t>Live practice 1: Greeting</a:t>
            </a:r>
          </a:p>
        </p:txBody>
      </p:sp>
      <p:sp>
        <p:nvSpPr>
          <p:cNvPr id="3" name="SlideNo"/>
          <p:cNvSpPr txBox="1"/>
          <p:nvPr/>
        </p:nvSpPr>
        <p:spPr>
          <a:xfrm>
            <a:off x="11219688" y="6373368"/>
            <a:ext cx="694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>
                <a:solidFill>
                  <a:srgbClr val="6B7F8A"/>
                </a:solidFill>
                <a:latin typeface="Carlito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1887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50" b="0">
                <a:solidFill>
                  <a:srgbClr val="6B7F8A"/>
                </a:solidFill>
                <a:latin typeface="Carlito"/>
              </a:rPr>
              <a:t>Uses: Python version · .py file · print and 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" y="1709928"/>
            <a:ext cx="4937760" cy="822960"/>
          </a:xfrm>
          <a:prstGeom prst="roundRect">
            <a:avLst>
              <a:gd name="adj" fmla="val 12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41248" y="2020824"/>
            <a:ext cx="201168" cy="201168"/>
          </a:xfrm>
          <a:prstGeom prst="ellipse">
            <a:avLst/>
          </a:prstGeom>
          <a:solidFill>
            <a:srgbClr val="1FA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52728" y="1709928"/>
            <a:ext cx="40690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0B1F2A"/>
                </a:solidFill>
                <a:latin typeface="Carlito"/>
              </a:rPr>
              <a:t>Check your Python version, note it in a comment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" y="2715768"/>
            <a:ext cx="4937760" cy="822960"/>
          </a:xfrm>
          <a:prstGeom prst="roundRect">
            <a:avLst>
              <a:gd name="adj" fmla="val 12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8" y="3026664"/>
            <a:ext cx="201168" cy="201168"/>
          </a:xfrm>
          <a:prstGeom prst="ellipse">
            <a:avLst/>
          </a:prstGeom>
          <a:solidFill>
            <a:srgbClr val="1FA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52728" y="2715768"/>
            <a:ext cx="40690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0B1F2A"/>
                </a:solidFill>
                <a:latin typeface="Carlito"/>
              </a:rPr>
              <a:t>Ask for name and city with input()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" y="3721608"/>
            <a:ext cx="4937760" cy="822960"/>
          </a:xfrm>
          <a:prstGeom prst="roundRect">
            <a:avLst>
              <a:gd name="adj" fmla="val 12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41248" y="4032504"/>
            <a:ext cx="201168" cy="201168"/>
          </a:xfrm>
          <a:prstGeom prst="ellipse">
            <a:avLst/>
          </a:prstGeom>
          <a:solidFill>
            <a:srgbClr val="1FA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52728" y="3721608"/>
            <a:ext cx="40690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0B1F2A"/>
                </a:solidFill>
                <a:latin typeface="Carlito"/>
              </a:rPr>
              <a:t>Print one greeting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" y="4727448"/>
            <a:ext cx="4937760" cy="822960"/>
          </a:xfrm>
          <a:prstGeom prst="roundRect">
            <a:avLst>
              <a:gd name="adj" fmla="val 12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41248" y="5038344"/>
            <a:ext cx="201168" cy="201168"/>
          </a:xfrm>
          <a:prstGeom prst="ellipse">
            <a:avLst/>
          </a:prstGeom>
          <a:solidFill>
            <a:srgbClr val="1FA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52728" y="4727448"/>
            <a:ext cx="40690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0B1F2A"/>
                </a:solidFill>
                <a:latin typeface="Carlito"/>
              </a:rPr>
              <a:t>Run it from the terminal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52160" y="1709928"/>
            <a:ext cx="5733288" cy="4023360"/>
          </a:xfrm>
          <a:prstGeom prst="roundRect">
            <a:avLst>
              <a:gd name="adj" fmla="val 4000"/>
            </a:avLst>
          </a:prstGeom>
          <a:solidFill>
            <a:srgbClr val="0B1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0" y="1938528"/>
            <a:ext cx="5184648" cy="3566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E2E8F0"/>
                </a:solidFill>
                <a:latin typeface="Courier New"/>
              </a:rPr>
              <a:t>Your name: Asha</a:t>
            </a:r>
          </a:p>
          <a:p>
            <a:pPr algn="l"/>
            <a:r>
              <a:rPr sz="1600" b="0">
                <a:solidFill>
                  <a:srgbClr val="E2E8F0"/>
                </a:solidFill>
                <a:latin typeface="Courier New"/>
              </a:rPr>
              <a:t>Your city: Toronto</a:t>
            </a:r>
          </a:p>
          <a:p>
            <a:pPr algn="l"/>
            <a:r>
              <a:rPr sz="1600" b="0">
                <a:solidFill>
                  <a:srgbClr val="E2E8F0"/>
                </a:solidFill>
                <a:latin typeface="Courier New"/>
              </a:rPr>
              <a:t>Hello, Asha from Toronto!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50" b="0">
                <a:solidFill>
                  <a:srgbClr val="6B7F8A"/>
                </a:solidFill>
                <a:latin typeface="Carlito"/>
              </a:rPr>
              <a:t>File: live-practice/01_greeting.py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1256475" y="2314377"/>
            <a:ext cx="10484778" cy="1950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800" b="1" spc="141" kern="100" dirty="0">
                <a:solidFill>
                  <a:srgbClr val="FFFFFF"/>
                </a:solidFill>
                <a:latin typeface="Caladea Bold" pitchFamily="34" charset="0"/>
                <a:ea typeface="Caladea Bold" pitchFamily="34" charset="-122"/>
                <a:cs typeface="Caladea Bold" pitchFamily="34" charset="-120"/>
              </a:rPr>
              <a:t>Q&amp;A</a:t>
            </a:r>
            <a:endParaRPr lang="en-US" sz="12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12648" y="594360"/>
            <a:ext cx="10972800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0B1F2A"/>
                </a:solidFill>
                <a:latin typeface="Caladea Bold"/>
              </a:rPr>
              <a:t>4. Variables and types</a:t>
            </a:r>
          </a:p>
        </p:txBody>
      </p:sp>
      <p:sp>
        <p:nvSpPr>
          <p:cNvPr id="3" name="SlideNo"/>
          <p:cNvSpPr txBox="1"/>
          <p:nvPr/>
        </p:nvSpPr>
        <p:spPr>
          <a:xfrm>
            <a:off x="11219688" y="6373368"/>
            <a:ext cx="694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>
                <a:solidFill>
                  <a:srgbClr val="6B7F8A"/>
                </a:solidFill>
                <a:latin typeface="Carlito"/>
              </a:rPr>
              <a:t>13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709928"/>
            <a:ext cx="4937760" cy="822960"/>
          </a:xfrm>
          <a:prstGeom prst="roundRect">
            <a:avLst>
              <a:gd name="adj" fmla="val 12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41248" y="2020824"/>
            <a:ext cx="201168" cy="201168"/>
          </a:xfrm>
          <a:prstGeom prst="ellipse">
            <a:avLst/>
          </a:prstGeom>
          <a:solidFill>
            <a:srgbClr val="1FA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2728" y="1709928"/>
            <a:ext cx="40690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0B1F2A"/>
                </a:solidFill>
                <a:latin typeface="Carlito"/>
              </a:rPr>
              <a:t>A name that stores a value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" y="2715768"/>
            <a:ext cx="4937760" cy="822960"/>
          </a:xfrm>
          <a:prstGeom prst="roundRect">
            <a:avLst>
              <a:gd name="adj" fmla="val 12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41248" y="3026664"/>
            <a:ext cx="201168" cy="201168"/>
          </a:xfrm>
          <a:prstGeom prst="ellipse">
            <a:avLst/>
          </a:prstGeom>
          <a:solidFill>
            <a:srgbClr val="1FA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52728" y="2715768"/>
            <a:ext cx="40690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0B1F2A"/>
                </a:solidFill>
                <a:latin typeface="Carlito"/>
              </a:rPr>
              <a:t>int, float, str, bool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" y="3721608"/>
            <a:ext cx="4937760" cy="822960"/>
          </a:xfrm>
          <a:prstGeom prst="roundRect">
            <a:avLst>
              <a:gd name="adj" fmla="val 12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8" y="4032504"/>
            <a:ext cx="201168" cy="201168"/>
          </a:xfrm>
          <a:prstGeom prst="ellipse">
            <a:avLst/>
          </a:prstGeom>
          <a:solidFill>
            <a:srgbClr val="1FA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52728" y="3721608"/>
            <a:ext cx="40690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0B1F2A"/>
                </a:solidFill>
                <a:latin typeface="Carlito"/>
              </a:rPr>
              <a:t>f-strings put variables in text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" y="4727448"/>
            <a:ext cx="4937760" cy="822960"/>
          </a:xfrm>
          <a:prstGeom prst="roundRect">
            <a:avLst>
              <a:gd name="adj" fmla="val 12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41248" y="5038344"/>
            <a:ext cx="201168" cy="201168"/>
          </a:xfrm>
          <a:prstGeom prst="ellipse">
            <a:avLst/>
          </a:prstGeom>
          <a:solidFill>
            <a:srgbClr val="1FA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52728" y="4727448"/>
            <a:ext cx="40690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0B1F2A"/>
                </a:solidFill>
                <a:latin typeface="Carlito"/>
              </a:rPr>
              <a:t>type() tells you the type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52160" y="1709928"/>
            <a:ext cx="5733288" cy="4023360"/>
          </a:xfrm>
          <a:prstGeom prst="roundRect">
            <a:avLst>
              <a:gd name="adj" fmla="val 4000"/>
            </a:avLst>
          </a:prstGeom>
          <a:solidFill>
            <a:srgbClr val="0B1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0" y="1938528"/>
            <a:ext cx="5184648" cy="3566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E2E8F0"/>
                </a:solidFill>
                <a:latin typeface="Courier New"/>
              </a:rPr>
              <a:t>name = "Asha"      # str</a:t>
            </a:r>
          </a:p>
          <a:p>
            <a:pPr algn="l"/>
            <a:r>
              <a:rPr sz="1600" b="0">
                <a:solidFill>
                  <a:srgbClr val="E2E8F0"/>
                </a:solidFill>
                <a:latin typeface="Courier New"/>
              </a:rPr>
              <a:t>age = 21           # int</a:t>
            </a:r>
          </a:p>
          <a:p>
            <a:pPr algn="l"/>
            <a:r>
              <a:rPr sz="1600" b="0">
                <a:solidFill>
                  <a:srgbClr val="E2E8F0"/>
                </a:solidFill>
                <a:latin typeface="Courier New"/>
              </a:rPr>
              <a:t>height = 1.65      # float</a:t>
            </a:r>
          </a:p>
          <a:p>
            <a:pPr algn="l"/>
            <a:r>
              <a:rPr sz="1600" b="0">
                <a:solidFill>
                  <a:srgbClr val="E2E8F0"/>
                </a:solidFill>
                <a:latin typeface="Courier New"/>
              </a:rPr>
              <a:t>is_student = True  # bool</a:t>
            </a:r>
          </a:p>
          <a:p>
            <a:pPr algn="l"/>
            <a:r>
              <a:rPr sz="1600" b="0">
                <a:solidFill>
                  <a:srgbClr val="E2E8F0"/>
                </a:solidFill>
                <a:latin typeface="Courier New"/>
              </a:rPr>
              <a:t/>
            </a:r>
          </a:p>
          <a:p>
            <a:pPr algn="l"/>
            <a:r>
              <a:rPr sz="1600" b="0">
                <a:solidFill>
                  <a:srgbClr val="E2E8F0"/>
                </a:solidFill>
                <a:latin typeface="Courier New"/>
              </a:rPr>
              <a:t>print(f"{name} is {age}")</a:t>
            </a:r>
          </a:p>
          <a:p>
            <a:pPr algn="l"/>
            <a:r>
              <a:rPr sz="1600" b="0">
                <a:solidFill>
                  <a:srgbClr val="E2E8F0"/>
                </a:solidFill>
                <a:latin typeface="Courier New"/>
              </a:rPr>
              <a:t>print(type(age))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50" b="0">
                <a:solidFill>
                  <a:srgbClr val="6B7F8A"/>
                </a:solidFill>
                <a:latin typeface="Carlito"/>
              </a:rPr>
              <a:t>File: lecture/04_variables_and_types.py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12648" y="594360"/>
            <a:ext cx="10972800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0B1F2A"/>
                </a:solidFill>
                <a:latin typeface="Caladea Bold"/>
              </a:rPr>
              <a:t>5. Conditional statements</a:t>
            </a:r>
          </a:p>
        </p:txBody>
      </p:sp>
      <p:sp>
        <p:nvSpPr>
          <p:cNvPr id="3" name="SlideNo"/>
          <p:cNvSpPr txBox="1"/>
          <p:nvPr/>
        </p:nvSpPr>
        <p:spPr>
          <a:xfrm>
            <a:off x="11219688" y="6373368"/>
            <a:ext cx="694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>
                <a:solidFill>
                  <a:srgbClr val="6B7F8A"/>
                </a:solidFill>
                <a:latin typeface="Carlito"/>
              </a:rPr>
              <a:t>14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709928"/>
            <a:ext cx="4937760" cy="822960"/>
          </a:xfrm>
          <a:prstGeom prst="roundRect">
            <a:avLst>
              <a:gd name="adj" fmla="val 12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41248" y="2020824"/>
            <a:ext cx="201168" cy="201168"/>
          </a:xfrm>
          <a:prstGeom prst="ellipse">
            <a:avLst/>
          </a:prstGeom>
          <a:solidFill>
            <a:srgbClr val="1FA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2728" y="1709928"/>
            <a:ext cx="40690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0B1F2A"/>
                </a:solidFill>
                <a:latin typeface="Carlito"/>
              </a:rPr>
              <a:t>if, elif, else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" y="2715768"/>
            <a:ext cx="4937760" cy="822960"/>
          </a:xfrm>
          <a:prstGeom prst="roundRect">
            <a:avLst>
              <a:gd name="adj" fmla="val 12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41248" y="3026664"/>
            <a:ext cx="201168" cy="201168"/>
          </a:xfrm>
          <a:prstGeom prst="ellipse">
            <a:avLst/>
          </a:prstGeom>
          <a:solidFill>
            <a:srgbClr val="1FA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52728" y="2715768"/>
            <a:ext cx="40690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0B1F2A"/>
                </a:solidFill>
                <a:latin typeface="Carlito"/>
              </a:rPr>
              <a:t>Compare: == != &lt; &gt; &lt;= &gt;=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" y="3721608"/>
            <a:ext cx="4937760" cy="822960"/>
          </a:xfrm>
          <a:prstGeom prst="roundRect">
            <a:avLst>
              <a:gd name="adj" fmla="val 12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8" y="4032504"/>
            <a:ext cx="201168" cy="201168"/>
          </a:xfrm>
          <a:prstGeom prst="ellipse">
            <a:avLst/>
          </a:prstGeom>
          <a:solidFill>
            <a:srgbClr val="1FA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52728" y="3721608"/>
            <a:ext cx="40690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0B1F2A"/>
                </a:solidFill>
                <a:latin typeface="Carlito"/>
              </a:rPr>
              <a:t>Combine with and, or, not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" y="4727448"/>
            <a:ext cx="4937760" cy="822960"/>
          </a:xfrm>
          <a:prstGeom prst="roundRect">
            <a:avLst>
              <a:gd name="adj" fmla="val 12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41248" y="5038344"/>
            <a:ext cx="201168" cy="201168"/>
          </a:xfrm>
          <a:prstGeom prst="ellipse">
            <a:avLst/>
          </a:prstGeom>
          <a:solidFill>
            <a:srgbClr val="1FA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52728" y="4727448"/>
            <a:ext cx="40690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0B1F2A"/>
                </a:solidFill>
                <a:latin typeface="Carlito"/>
              </a:rPr>
              <a:t>Indentation matters in Python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52160" y="1709928"/>
            <a:ext cx="5733288" cy="4023360"/>
          </a:xfrm>
          <a:prstGeom prst="roundRect">
            <a:avLst>
              <a:gd name="adj" fmla="val 4000"/>
            </a:avLst>
          </a:prstGeom>
          <a:solidFill>
            <a:srgbClr val="0B1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0" y="1938528"/>
            <a:ext cx="5184648" cy="3566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E2E8F0"/>
                </a:solidFill>
                <a:latin typeface="Courier New"/>
              </a:rPr>
              <a:t>age = 20</a:t>
            </a:r>
          </a:p>
          <a:p>
            <a:pPr algn="l"/>
            <a:r>
              <a:rPr sz="1600" b="0">
                <a:solidFill>
                  <a:srgbClr val="E2E8F0"/>
                </a:solidFill>
                <a:latin typeface="Courier New"/>
              </a:rPr>
              <a:t>has_id = True</a:t>
            </a:r>
          </a:p>
          <a:p>
            <a:pPr algn="l"/>
            <a:r>
              <a:rPr sz="1600" b="0">
                <a:solidFill>
                  <a:srgbClr val="E2E8F0"/>
                </a:solidFill>
                <a:latin typeface="Courier New"/>
              </a:rPr>
              <a:t/>
            </a:r>
          </a:p>
          <a:p>
            <a:pPr algn="l"/>
            <a:r>
              <a:rPr sz="1600" b="0">
                <a:solidFill>
                  <a:srgbClr val="E2E8F0"/>
                </a:solidFill>
                <a:latin typeface="Courier New"/>
              </a:rPr>
              <a:t>if age &gt;= 18 and has_id:</a:t>
            </a:r>
          </a:p>
          <a:p>
            <a:pPr algn="l"/>
            <a:r>
              <a:rPr sz="1600" b="0">
                <a:solidFill>
                  <a:srgbClr val="E2E8F0"/>
                </a:solidFill>
                <a:latin typeface="Courier New"/>
              </a:rPr>
              <a:t>    print("Entry allowed")</a:t>
            </a:r>
          </a:p>
          <a:p>
            <a:pPr algn="l"/>
            <a:r>
              <a:rPr sz="1600" b="0">
                <a:solidFill>
                  <a:srgbClr val="E2E8F0"/>
                </a:solidFill>
                <a:latin typeface="Courier New"/>
              </a:rPr>
              <a:t>elif age &gt;= 18:</a:t>
            </a:r>
          </a:p>
          <a:p>
            <a:pPr algn="l"/>
            <a:r>
              <a:rPr sz="1600" b="0">
                <a:solidFill>
                  <a:srgbClr val="E2E8F0"/>
                </a:solidFill>
                <a:latin typeface="Courier New"/>
              </a:rPr>
              <a:t>    print("Show your ID")</a:t>
            </a:r>
          </a:p>
          <a:p>
            <a:pPr algn="l"/>
            <a:r>
              <a:rPr sz="1600" b="0">
                <a:solidFill>
                  <a:srgbClr val="E2E8F0"/>
                </a:solidFill>
                <a:latin typeface="Courier New"/>
              </a:rPr>
              <a:t>else:</a:t>
            </a:r>
          </a:p>
          <a:p>
            <a:pPr algn="l"/>
            <a:r>
              <a:rPr sz="1600" b="0">
                <a:solidFill>
                  <a:srgbClr val="E2E8F0"/>
                </a:solidFill>
                <a:latin typeface="Courier New"/>
              </a:rPr>
              <a:t>    print("Too young")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50" b="0">
                <a:solidFill>
                  <a:srgbClr val="6B7F8A"/>
                </a:solidFill>
                <a:latin typeface="Carlito"/>
              </a:rPr>
              <a:t>File: lecture/05_conditionals.py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12648" y="594360"/>
            <a:ext cx="10972800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0B1F2A"/>
                </a:solidFill>
                <a:latin typeface="Caladea Bold"/>
              </a:rPr>
              <a:t>Live practice 2: Ticket price</a:t>
            </a:r>
          </a:p>
        </p:txBody>
      </p:sp>
      <p:sp>
        <p:nvSpPr>
          <p:cNvPr id="3" name="SlideNo"/>
          <p:cNvSpPr txBox="1"/>
          <p:nvPr/>
        </p:nvSpPr>
        <p:spPr>
          <a:xfrm>
            <a:off x="11219688" y="6373368"/>
            <a:ext cx="694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>
                <a:solidFill>
                  <a:srgbClr val="6B7F8A"/>
                </a:solidFill>
                <a:latin typeface="Carlito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1887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50" b="0">
                <a:solidFill>
                  <a:srgbClr val="6B7F8A"/>
                </a:solidFill>
                <a:latin typeface="Carlito"/>
              </a:rPr>
              <a:t>Uses: variables · if/elif/else · and/or/not · f-strings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" y="1709928"/>
            <a:ext cx="4937760" cy="822960"/>
          </a:xfrm>
          <a:prstGeom prst="roundRect">
            <a:avLst>
              <a:gd name="adj" fmla="val 12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41248" y="2020824"/>
            <a:ext cx="201168" cy="201168"/>
          </a:xfrm>
          <a:prstGeom prst="ellipse">
            <a:avLst/>
          </a:prstGeom>
          <a:solidFill>
            <a:srgbClr val="1FA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52728" y="1709928"/>
            <a:ext cx="40690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0B1F2A"/>
                </a:solidFill>
                <a:latin typeface="Carlito"/>
              </a:rPr>
              <a:t>Ask age (int) and student (yes/no)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" y="2715768"/>
            <a:ext cx="4937760" cy="822960"/>
          </a:xfrm>
          <a:prstGeom prst="roundRect">
            <a:avLst>
              <a:gd name="adj" fmla="val 12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8" y="3026664"/>
            <a:ext cx="201168" cy="201168"/>
          </a:xfrm>
          <a:prstGeom prst="ellipse">
            <a:avLst/>
          </a:prstGeom>
          <a:solidFill>
            <a:srgbClr val="1FA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52728" y="2715768"/>
            <a:ext cx="40690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0B1F2A"/>
                </a:solidFill>
                <a:latin typeface="Carlito"/>
              </a:rPr>
              <a:t>Under 5: $0.  Age 5-12 or 65+: $8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" y="3721608"/>
            <a:ext cx="4937760" cy="822960"/>
          </a:xfrm>
          <a:prstGeom prst="roundRect">
            <a:avLst>
              <a:gd name="adj" fmla="val 12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41248" y="4032504"/>
            <a:ext cx="201168" cy="201168"/>
          </a:xfrm>
          <a:prstGeom prst="ellipse">
            <a:avLst/>
          </a:prstGeom>
          <a:solidFill>
            <a:srgbClr val="1FA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52728" y="3721608"/>
            <a:ext cx="40690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0B1F2A"/>
                </a:solidFill>
                <a:latin typeface="Carlito"/>
              </a:rPr>
              <a:t>Student: $10.  Everyone else: $12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" y="4727448"/>
            <a:ext cx="4937760" cy="822960"/>
          </a:xfrm>
          <a:prstGeom prst="roundRect">
            <a:avLst>
              <a:gd name="adj" fmla="val 12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41248" y="5038344"/>
            <a:ext cx="201168" cy="201168"/>
          </a:xfrm>
          <a:prstGeom prst="ellipse">
            <a:avLst/>
          </a:prstGeom>
          <a:solidFill>
            <a:srgbClr val="1FA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52728" y="4727448"/>
            <a:ext cx="40690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0B1F2A"/>
                </a:solidFill>
                <a:latin typeface="Carlito"/>
              </a:rPr>
              <a:t>Print the price with an f-string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52160" y="1709928"/>
            <a:ext cx="5733288" cy="4023360"/>
          </a:xfrm>
          <a:prstGeom prst="roundRect">
            <a:avLst>
              <a:gd name="adj" fmla="val 4000"/>
            </a:avLst>
          </a:prstGeom>
          <a:solidFill>
            <a:srgbClr val="0B1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0" y="1938528"/>
            <a:ext cx="5184648" cy="3566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E2E8F0"/>
                </a:solidFill>
                <a:latin typeface="Courier New"/>
              </a:rPr>
              <a:t>Age: 20</a:t>
            </a:r>
          </a:p>
          <a:p>
            <a:pPr algn="l"/>
            <a:r>
              <a:rPr sz="1600" b="0">
                <a:solidFill>
                  <a:srgbClr val="E2E8F0"/>
                </a:solidFill>
                <a:latin typeface="Courier New"/>
              </a:rPr>
              <a:t>Student (yes/no): yes</a:t>
            </a:r>
          </a:p>
          <a:p>
            <a:pPr algn="l"/>
            <a:r>
              <a:rPr sz="1600" b="0">
                <a:solidFill>
                  <a:srgbClr val="E2E8F0"/>
                </a:solidFill>
                <a:latin typeface="Courier New"/>
              </a:rPr>
              <a:t>Ticket price: $10</a:t>
            </a:r>
          </a:p>
          <a:p>
            <a:pPr algn="l"/>
            <a:r>
              <a:rPr sz="1600" b="0">
                <a:solidFill>
                  <a:srgbClr val="E2E8F0"/>
                </a:solidFill>
                <a:latin typeface="Courier New"/>
              </a:rPr>
              <a:t/>
            </a:r>
          </a:p>
          <a:p>
            <a:pPr algn="l"/>
            <a:r>
              <a:rPr sz="1600" b="0">
                <a:solidFill>
                  <a:srgbClr val="E2E8F0"/>
                </a:solidFill>
                <a:latin typeface="Courier New"/>
              </a:rPr>
              <a:t>Age: 3</a:t>
            </a:r>
          </a:p>
          <a:p>
            <a:pPr algn="l"/>
            <a:r>
              <a:rPr sz="1600" b="0">
                <a:solidFill>
                  <a:srgbClr val="E2E8F0"/>
                </a:solidFill>
                <a:latin typeface="Courier New"/>
              </a:rPr>
              <a:t>Student (yes/no): no</a:t>
            </a:r>
          </a:p>
          <a:p>
            <a:pPr algn="l"/>
            <a:r>
              <a:rPr sz="1600" b="0">
                <a:solidFill>
                  <a:srgbClr val="E2E8F0"/>
                </a:solidFill>
                <a:latin typeface="Courier New"/>
              </a:rPr>
              <a:t>Ticket price: $0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50" b="0">
                <a:solidFill>
                  <a:srgbClr val="6B7F8A"/>
                </a:solidFill>
                <a:latin typeface="Carlito"/>
              </a:rPr>
              <a:t>File: live-practice/02_ticket_price.py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1256475" y="2314377"/>
            <a:ext cx="10484778" cy="1950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800" b="1" spc="141" kern="100" dirty="0">
                <a:solidFill>
                  <a:srgbClr val="FFFFFF"/>
                </a:solidFill>
                <a:latin typeface="Caladea Bold" pitchFamily="34" charset="0"/>
                <a:ea typeface="Caladea Bold" pitchFamily="34" charset="-122"/>
                <a:cs typeface="Caladea Bold" pitchFamily="34" charset="-120"/>
              </a:rPr>
              <a:t>Q&amp;A</a:t>
            </a:r>
            <a:endParaRPr lang="en-US" sz="12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12648" y="594360"/>
            <a:ext cx="10972800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0B1F2A"/>
                </a:solidFill>
                <a:latin typeface="Caladea Bold"/>
              </a:rPr>
              <a:t>6. Loops</a:t>
            </a:r>
          </a:p>
        </p:txBody>
      </p:sp>
      <p:sp>
        <p:nvSpPr>
          <p:cNvPr id="3" name="SlideNo"/>
          <p:cNvSpPr txBox="1"/>
          <p:nvPr/>
        </p:nvSpPr>
        <p:spPr>
          <a:xfrm>
            <a:off x="11219688" y="6373368"/>
            <a:ext cx="694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>
                <a:solidFill>
                  <a:srgbClr val="6B7F8A"/>
                </a:solidFill>
                <a:latin typeface="Carlito"/>
              </a:rPr>
              <a:t>17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709928"/>
            <a:ext cx="4937760" cy="822960"/>
          </a:xfrm>
          <a:prstGeom prst="roundRect">
            <a:avLst>
              <a:gd name="adj" fmla="val 12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41248" y="2020824"/>
            <a:ext cx="201168" cy="201168"/>
          </a:xfrm>
          <a:prstGeom prst="ellipse">
            <a:avLst/>
          </a:prstGeom>
          <a:solidFill>
            <a:srgbClr val="1FA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2728" y="1709928"/>
            <a:ext cx="40690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0B1F2A"/>
                </a:solidFill>
                <a:latin typeface="Carlito"/>
              </a:rPr>
              <a:t>for with range, while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" y="2715768"/>
            <a:ext cx="4937760" cy="822960"/>
          </a:xfrm>
          <a:prstGeom prst="roundRect">
            <a:avLst>
              <a:gd name="adj" fmla="val 12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41248" y="3026664"/>
            <a:ext cx="201168" cy="201168"/>
          </a:xfrm>
          <a:prstGeom prst="ellipse">
            <a:avLst/>
          </a:prstGeom>
          <a:solidFill>
            <a:srgbClr val="1FA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52728" y="2715768"/>
            <a:ext cx="40690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0B1F2A"/>
                </a:solidFill>
                <a:latin typeface="Carlito"/>
              </a:rPr>
              <a:t>break stops the loop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" y="3721608"/>
            <a:ext cx="4937760" cy="822960"/>
          </a:xfrm>
          <a:prstGeom prst="roundRect">
            <a:avLst>
              <a:gd name="adj" fmla="val 12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8" y="4032504"/>
            <a:ext cx="201168" cy="201168"/>
          </a:xfrm>
          <a:prstGeom prst="ellipse">
            <a:avLst/>
          </a:prstGeom>
          <a:solidFill>
            <a:srgbClr val="1FA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52728" y="3721608"/>
            <a:ext cx="40690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0B1F2A"/>
                </a:solidFill>
                <a:latin typeface="Carlito"/>
              </a:rPr>
              <a:t>continue skips to the next round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" y="4727448"/>
            <a:ext cx="4937760" cy="822960"/>
          </a:xfrm>
          <a:prstGeom prst="roundRect">
            <a:avLst>
              <a:gd name="adj" fmla="val 12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41248" y="5038344"/>
            <a:ext cx="201168" cy="201168"/>
          </a:xfrm>
          <a:prstGeom prst="ellipse">
            <a:avLst/>
          </a:prstGeom>
          <a:solidFill>
            <a:srgbClr val="1FA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52728" y="4727448"/>
            <a:ext cx="40690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0B1F2A"/>
                </a:solidFill>
                <a:latin typeface="Carlito"/>
              </a:rPr>
              <a:t>Forgot count - 1? It never ends (Ctrl+C)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52160" y="1709928"/>
            <a:ext cx="5733288" cy="4023360"/>
          </a:xfrm>
          <a:prstGeom prst="roundRect">
            <a:avLst>
              <a:gd name="adj" fmla="val 4000"/>
            </a:avLst>
          </a:prstGeom>
          <a:solidFill>
            <a:srgbClr val="0B1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0" y="1938528"/>
            <a:ext cx="5184648" cy="3566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E2E8F0"/>
                </a:solidFill>
                <a:latin typeface="Courier New"/>
              </a:rPr>
              <a:t>for i in range(1, 6):</a:t>
            </a:r>
          </a:p>
          <a:p>
            <a:pPr algn="l"/>
            <a:r>
              <a:rPr sz="1500" b="0">
                <a:solidFill>
                  <a:srgbClr val="E2E8F0"/>
                </a:solidFill>
                <a:latin typeface="Courier New"/>
              </a:rPr>
              <a:t>    if i == 2:</a:t>
            </a:r>
          </a:p>
          <a:p>
            <a:pPr algn="l"/>
            <a:r>
              <a:rPr sz="1500" b="0">
                <a:solidFill>
                  <a:srgbClr val="E2E8F0"/>
                </a:solidFill>
                <a:latin typeface="Courier New"/>
              </a:rPr>
              <a:t>        continue</a:t>
            </a:r>
          </a:p>
          <a:p>
            <a:pPr algn="l"/>
            <a:r>
              <a:rPr sz="1500" b="0">
                <a:solidFill>
                  <a:srgbClr val="E2E8F0"/>
                </a:solidFill>
                <a:latin typeface="Courier New"/>
              </a:rPr>
              <a:t>    if i == 5:</a:t>
            </a:r>
          </a:p>
          <a:p>
            <a:pPr algn="l"/>
            <a:r>
              <a:rPr sz="1500" b="0">
                <a:solidFill>
                  <a:srgbClr val="E2E8F0"/>
                </a:solidFill>
                <a:latin typeface="Courier New"/>
              </a:rPr>
              <a:t>        break</a:t>
            </a:r>
          </a:p>
          <a:p>
            <a:pPr algn="l"/>
            <a:r>
              <a:rPr sz="1500" b="0">
                <a:solidFill>
                  <a:srgbClr val="E2E8F0"/>
                </a:solidFill>
                <a:latin typeface="Courier New"/>
              </a:rPr>
              <a:t>    print(i)      # 1 3 4</a:t>
            </a:r>
          </a:p>
          <a:p>
            <a:pPr algn="l"/>
            <a:r>
              <a:rPr sz="1500" b="0">
                <a:solidFill>
                  <a:srgbClr val="E2E8F0"/>
                </a:solidFill>
                <a:latin typeface="Courier New"/>
              </a:rPr>
              <a:t/>
            </a:r>
          </a:p>
          <a:p>
            <a:pPr algn="l"/>
            <a:r>
              <a:rPr sz="1500" b="0">
                <a:solidFill>
                  <a:srgbClr val="E2E8F0"/>
                </a:solidFill>
                <a:latin typeface="Courier New"/>
              </a:rPr>
              <a:t>count = 3</a:t>
            </a:r>
          </a:p>
          <a:p>
            <a:pPr algn="l"/>
            <a:r>
              <a:rPr sz="1500" b="0">
                <a:solidFill>
                  <a:srgbClr val="E2E8F0"/>
                </a:solidFill>
                <a:latin typeface="Courier New"/>
              </a:rPr>
              <a:t>while count &gt; 0:</a:t>
            </a:r>
          </a:p>
          <a:p>
            <a:pPr algn="l"/>
            <a:r>
              <a:rPr sz="1500" b="0">
                <a:solidFill>
                  <a:srgbClr val="E2E8F0"/>
                </a:solidFill>
                <a:latin typeface="Courier New"/>
              </a:rPr>
              <a:t>    print(count)</a:t>
            </a:r>
          </a:p>
          <a:p>
            <a:pPr algn="l"/>
            <a:r>
              <a:rPr sz="1500" b="0">
                <a:solidFill>
                  <a:srgbClr val="E2E8F0"/>
                </a:solidFill>
                <a:latin typeface="Courier New"/>
              </a:rPr>
              <a:t>    count = count - 1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50" b="0">
                <a:solidFill>
                  <a:srgbClr val="6B7F8A"/>
                </a:solidFill>
                <a:latin typeface="Carlito"/>
              </a:rPr>
              <a:t>File: lecture/06_loops.py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12648" y="594360"/>
            <a:ext cx="10972800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0B1F2A"/>
                </a:solidFill>
                <a:latin typeface="Caladea Bold"/>
              </a:rPr>
              <a:t>7. Functions: def, parameters, return</a:t>
            </a:r>
          </a:p>
        </p:txBody>
      </p:sp>
      <p:sp>
        <p:nvSpPr>
          <p:cNvPr id="3" name="SlideNo"/>
          <p:cNvSpPr txBox="1"/>
          <p:nvPr/>
        </p:nvSpPr>
        <p:spPr>
          <a:xfrm>
            <a:off x="11219688" y="6373368"/>
            <a:ext cx="694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>
                <a:solidFill>
                  <a:srgbClr val="6B7F8A"/>
                </a:solidFill>
                <a:latin typeface="Carlito"/>
              </a:rPr>
              <a:t>18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709928"/>
            <a:ext cx="4937760" cy="822960"/>
          </a:xfrm>
          <a:prstGeom prst="roundRect">
            <a:avLst>
              <a:gd name="adj" fmla="val 12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41248" y="2020824"/>
            <a:ext cx="201168" cy="201168"/>
          </a:xfrm>
          <a:prstGeom prst="ellipse">
            <a:avLst/>
          </a:prstGeom>
          <a:solidFill>
            <a:srgbClr val="1FA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2728" y="1709928"/>
            <a:ext cx="40690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0B1F2A"/>
                </a:solidFill>
                <a:latin typeface="Carlito"/>
              </a:rPr>
              <a:t>def defines a function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" y="2715768"/>
            <a:ext cx="4937760" cy="822960"/>
          </a:xfrm>
          <a:prstGeom prst="roundRect">
            <a:avLst>
              <a:gd name="adj" fmla="val 12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41248" y="3026664"/>
            <a:ext cx="201168" cy="201168"/>
          </a:xfrm>
          <a:prstGeom prst="ellipse">
            <a:avLst/>
          </a:prstGeom>
          <a:solidFill>
            <a:srgbClr val="1FA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52728" y="2715768"/>
            <a:ext cx="40690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0B1F2A"/>
                </a:solidFill>
                <a:latin typeface="Carlito"/>
              </a:rPr>
              <a:t>Parameters go in, arguments are the values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" y="3721608"/>
            <a:ext cx="4937760" cy="822960"/>
          </a:xfrm>
          <a:prstGeom prst="roundRect">
            <a:avLst>
              <a:gd name="adj" fmla="val 12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8" y="4032504"/>
            <a:ext cx="201168" cy="201168"/>
          </a:xfrm>
          <a:prstGeom prst="ellipse">
            <a:avLst/>
          </a:prstGeom>
          <a:solidFill>
            <a:srgbClr val="1FA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52728" y="3721608"/>
            <a:ext cx="40690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0B1F2A"/>
                </a:solidFill>
                <a:latin typeface="Carlito"/>
              </a:rPr>
              <a:t>return sends a value back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" y="4727448"/>
            <a:ext cx="4937760" cy="822960"/>
          </a:xfrm>
          <a:prstGeom prst="roundRect">
            <a:avLst>
              <a:gd name="adj" fmla="val 12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41248" y="5038344"/>
            <a:ext cx="201168" cy="201168"/>
          </a:xfrm>
          <a:prstGeom prst="ellipse">
            <a:avLst/>
          </a:prstGeom>
          <a:solidFill>
            <a:srgbClr val="1FA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52728" y="4727448"/>
            <a:ext cx="40690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0B1F2A"/>
                </a:solidFill>
                <a:latin typeface="Carlito"/>
              </a:rPr>
              <a:t>Call it as many times as you like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52160" y="1709928"/>
            <a:ext cx="5733288" cy="4023360"/>
          </a:xfrm>
          <a:prstGeom prst="roundRect">
            <a:avLst>
              <a:gd name="adj" fmla="val 4000"/>
            </a:avLst>
          </a:prstGeom>
          <a:solidFill>
            <a:srgbClr val="0B1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0" y="1938528"/>
            <a:ext cx="5184648" cy="3566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E2E8F0"/>
                </a:solidFill>
                <a:latin typeface="Courier New"/>
              </a:rPr>
              <a:t>def greet(name):  # parameter</a:t>
            </a:r>
          </a:p>
          <a:p>
            <a:pPr algn="l"/>
            <a:r>
              <a:rPr sz="1500" b="0">
                <a:solidFill>
                  <a:srgbClr val="E2E8F0"/>
                </a:solidFill>
                <a:latin typeface="Courier New"/>
              </a:rPr>
              <a:t>    print("Hello,", name)</a:t>
            </a:r>
          </a:p>
          <a:p>
            <a:pPr algn="l"/>
            <a:r>
              <a:rPr sz="1500" b="0">
                <a:solidFill>
                  <a:srgbClr val="E2E8F0"/>
                </a:solidFill>
                <a:latin typeface="Courier New"/>
              </a:rPr>
              <a:t/>
            </a:r>
          </a:p>
          <a:p>
            <a:pPr algn="l"/>
            <a:r>
              <a:rPr sz="1500" b="0">
                <a:solidFill>
                  <a:srgbClr val="E2E8F0"/>
                </a:solidFill>
                <a:latin typeface="Courier New"/>
              </a:rPr>
              <a:t>greet("Asha")     # argument</a:t>
            </a:r>
          </a:p>
          <a:p>
            <a:pPr algn="l"/>
            <a:r>
              <a:rPr sz="1500" b="0">
                <a:solidFill>
                  <a:srgbClr val="E2E8F0"/>
                </a:solidFill>
                <a:latin typeface="Courier New"/>
              </a:rPr>
              <a:t>greet("Ben")</a:t>
            </a:r>
          </a:p>
          <a:p>
            <a:pPr algn="l"/>
            <a:r>
              <a:rPr sz="1500" b="0">
                <a:solidFill>
                  <a:srgbClr val="E2E8F0"/>
                </a:solidFill>
                <a:latin typeface="Courier New"/>
              </a:rPr>
              <a:t/>
            </a:r>
          </a:p>
          <a:p>
            <a:pPr algn="l"/>
            <a:r>
              <a:rPr sz="1500" b="0">
                <a:solidFill>
                  <a:srgbClr val="E2E8F0"/>
                </a:solidFill>
                <a:latin typeface="Courier New"/>
              </a:rPr>
              <a:t>def add(a, b):</a:t>
            </a:r>
          </a:p>
          <a:p>
            <a:pPr algn="l"/>
            <a:r>
              <a:rPr sz="1500" b="0">
                <a:solidFill>
                  <a:srgbClr val="E2E8F0"/>
                </a:solidFill>
                <a:latin typeface="Courier New"/>
              </a:rPr>
              <a:t>    return a + b</a:t>
            </a:r>
          </a:p>
          <a:p>
            <a:pPr algn="l"/>
            <a:r>
              <a:rPr sz="1500" b="0">
                <a:solidFill>
                  <a:srgbClr val="E2E8F0"/>
                </a:solidFill>
                <a:latin typeface="Courier New"/>
              </a:rPr>
              <a:t/>
            </a:r>
          </a:p>
          <a:p>
            <a:pPr algn="l"/>
            <a:r>
              <a:rPr sz="1500" b="0">
                <a:solidFill>
                  <a:srgbClr val="E2E8F0"/>
                </a:solidFill>
                <a:latin typeface="Courier New"/>
              </a:rPr>
              <a:t>total = add(3, 4) # 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50" b="0">
                <a:solidFill>
                  <a:srgbClr val="6B7F8A"/>
                </a:solidFill>
                <a:latin typeface="Carlito"/>
              </a:rPr>
              <a:t>File: lecture/07_functions.py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12648" y="594360"/>
            <a:ext cx="10972800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0B1F2A"/>
                </a:solidFill>
                <a:latin typeface="Caladea Bold"/>
              </a:rPr>
              <a:t>7. return is not print</a:t>
            </a:r>
          </a:p>
        </p:txBody>
      </p:sp>
      <p:sp>
        <p:nvSpPr>
          <p:cNvPr id="3" name="SlideNo"/>
          <p:cNvSpPr txBox="1"/>
          <p:nvPr/>
        </p:nvSpPr>
        <p:spPr>
          <a:xfrm>
            <a:off x="11219688" y="6373368"/>
            <a:ext cx="694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>
                <a:solidFill>
                  <a:srgbClr val="6B7F8A"/>
                </a:solidFill>
                <a:latin typeface="Carlito"/>
              </a:rP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600200"/>
            <a:ext cx="5367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50" b="1">
                <a:solidFill>
                  <a:srgbClr val="1FA67A"/>
                </a:solidFill>
                <a:latin typeface="Carlito"/>
              </a:rPr>
              <a:t>print shows 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" y="2057400"/>
            <a:ext cx="5367528" cy="3383280"/>
          </a:xfrm>
          <a:prstGeom prst="roundRect">
            <a:avLst>
              <a:gd name="adj" fmla="val 4000"/>
            </a:avLst>
          </a:prstGeom>
          <a:solidFill>
            <a:srgbClr val="0B1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2286000"/>
            <a:ext cx="4818888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E2E8F0"/>
                </a:solidFill>
                <a:latin typeface="Courier New"/>
              </a:rPr>
              <a:t>def add(a, b):</a:t>
            </a:r>
          </a:p>
          <a:p>
            <a:pPr algn="l"/>
            <a:r>
              <a:rPr sz="1600" b="0">
                <a:solidFill>
                  <a:srgbClr val="E2E8F0"/>
                </a:solidFill>
                <a:latin typeface="Courier New"/>
              </a:rPr>
              <a:t>    print(a + b)</a:t>
            </a:r>
          </a:p>
          <a:p>
            <a:pPr algn="l"/>
            <a:r>
              <a:rPr sz="1600" b="0">
                <a:solidFill>
                  <a:srgbClr val="E2E8F0"/>
                </a:solidFill>
                <a:latin typeface="Courier New"/>
              </a:rPr>
              <a:t/>
            </a:r>
          </a:p>
          <a:p>
            <a:pPr algn="l"/>
            <a:r>
              <a:rPr sz="1600" b="0">
                <a:solidFill>
                  <a:srgbClr val="E2E8F0"/>
                </a:solidFill>
                <a:latin typeface="Courier New"/>
              </a:rPr>
              <a:t>x = add(3, 4)   # shows 7</a:t>
            </a:r>
          </a:p>
          <a:p>
            <a:pPr algn="l"/>
            <a:r>
              <a:rPr sz="1600" b="0">
                <a:solidFill>
                  <a:srgbClr val="E2E8F0"/>
                </a:solidFill>
                <a:latin typeface="Courier New"/>
              </a:rPr>
              <a:t>print(x)        # None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00200"/>
            <a:ext cx="5367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50" b="1">
                <a:solidFill>
                  <a:srgbClr val="3B82C4"/>
                </a:solidFill>
                <a:latin typeface="Carlito"/>
              </a:rPr>
              <a:t>return gives it back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057400"/>
            <a:ext cx="5367528" cy="3383280"/>
          </a:xfrm>
          <a:prstGeom prst="roundRect">
            <a:avLst>
              <a:gd name="adj" fmla="val 4000"/>
            </a:avLst>
          </a:prstGeom>
          <a:solidFill>
            <a:srgbClr val="0B1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286000"/>
            <a:ext cx="4818888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E2E8F0"/>
                </a:solidFill>
                <a:latin typeface="Courier New"/>
              </a:rPr>
              <a:t>def add(a, b):</a:t>
            </a:r>
          </a:p>
          <a:p>
            <a:pPr algn="l"/>
            <a:r>
              <a:rPr sz="1600" b="0">
                <a:solidFill>
                  <a:srgbClr val="E2E8F0"/>
                </a:solidFill>
                <a:latin typeface="Courier New"/>
              </a:rPr>
              <a:t>    return a + b</a:t>
            </a:r>
          </a:p>
          <a:p>
            <a:pPr algn="l"/>
            <a:r>
              <a:rPr sz="1600" b="0">
                <a:solidFill>
                  <a:srgbClr val="E2E8F0"/>
                </a:solidFill>
                <a:latin typeface="Courier New"/>
              </a:rPr>
              <a:t/>
            </a:r>
          </a:p>
          <a:p>
            <a:pPr algn="l"/>
            <a:r>
              <a:rPr sz="1600" b="0">
                <a:solidFill>
                  <a:srgbClr val="E2E8F0"/>
                </a:solidFill>
                <a:latin typeface="Courier New"/>
              </a:rPr>
              <a:t>x = add(3, 4)</a:t>
            </a:r>
          </a:p>
          <a:p>
            <a:pPr algn="l"/>
            <a:r>
              <a:rPr sz="1600" b="0">
                <a:solidFill>
                  <a:srgbClr val="E2E8F0"/>
                </a:solidFill>
                <a:latin typeface="Courier New"/>
              </a:rPr>
              <a:t>print(x)        # 7</a:t>
            </a:r>
          </a:p>
          <a:p>
            <a:pPr algn="l"/>
            <a:r>
              <a:rPr sz="1600" b="0">
                <a:solidFill>
                  <a:srgbClr val="E2E8F0"/>
                </a:solidFill>
                <a:latin typeface="Courier New"/>
              </a:rPr>
              <a:t>print(x * 2)    #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566928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6B7F8A"/>
                </a:solidFill>
                <a:latin typeface="Carlito"/>
              </a:rPr>
              <a:t>return gives the value back. print only shows it.   |   File: lecture/08_return_vs_print.py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12648" y="594360"/>
            <a:ext cx="10972800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0B1F2A"/>
                </a:solidFill>
                <a:latin typeface="Caladea Bold"/>
              </a:rPr>
              <a:t>Live practice 3: Even numbers</a:t>
            </a:r>
          </a:p>
        </p:txBody>
      </p:sp>
      <p:sp>
        <p:nvSpPr>
          <p:cNvPr id="3" name="SlideNo"/>
          <p:cNvSpPr txBox="1"/>
          <p:nvPr/>
        </p:nvSpPr>
        <p:spPr>
          <a:xfrm>
            <a:off x="11219688" y="6373368"/>
            <a:ext cx="694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>
                <a:solidFill>
                  <a:srgbClr val="6B7F8A"/>
                </a:solidFill>
                <a:latin typeface="Carlito"/>
              </a:rPr>
              <a:t>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1887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50" b="0">
                <a:solidFill>
                  <a:srgbClr val="6B7F8A"/>
                </a:solidFill>
                <a:latin typeface="Carlito"/>
              </a:rPr>
              <a:t>Uses: functions · for and while · break and continue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" y="1709928"/>
            <a:ext cx="4937760" cy="822960"/>
          </a:xfrm>
          <a:prstGeom prst="roundRect">
            <a:avLst>
              <a:gd name="adj" fmla="val 12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41248" y="2020824"/>
            <a:ext cx="201168" cy="201168"/>
          </a:xfrm>
          <a:prstGeom prst="ellipse">
            <a:avLst/>
          </a:prstGeom>
          <a:solidFill>
            <a:srgbClr val="1FA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52728" y="1709928"/>
            <a:ext cx="40690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0B1F2A"/>
                </a:solidFill>
                <a:latin typeface="Carlito"/>
              </a:rPr>
              <a:t>Write is_even(n) that returns True or False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" y="2715768"/>
            <a:ext cx="4937760" cy="822960"/>
          </a:xfrm>
          <a:prstGeom prst="roundRect">
            <a:avLst>
              <a:gd name="adj" fmla="val 12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8" y="3026664"/>
            <a:ext cx="201168" cy="201168"/>
          </a:xfrm>
          <a:prstGeom prst="ellipse">
            <a:avLst/>
          </a:prstGeom>
          <a:solidFill>
            <a:srgbClr val="1FA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52728" y="2715768"/>
            <a:ext cx="40690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0B1F2A"/>
                </a:solidFill>
                <a:latin typeface="Carlito"/>
              </a:rPr>
              <a:t>for over range(1, 21): continue on odd, break after 14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" y="3721608"/>
            <a:ext cx="4937760" cy="822960"/>
          </a:xfrm>
          <a:prstGeom prst="roundRect">
            <a:avLst>
              <a:gd name="adj" fmla="val 12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41248" y="4032504"/>
            <a:ext cx="201168" cy="201168"/>
          </a:xfrm>
          <a:prstGeom prst="ellipse">
            <a:avLst/>
          </a:prstGeom>
          <a:solidFill>
            <a:srgbClr val="1FA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52728" y="3721608"/>
            <a:ext cx="40690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0B1F2A"/>
                </a:solidFill>
                <a:latin typeface="Carlito"/>
              </a:rPr>
              <a:t>Print each even number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" y="4727448"/>
            <a:ext cx="4937760" cy="822960"/>
          </a:xfrm>
          <a:prstGeom prst="roundRect">
            <a:avLst>
              <a:gd name="adj" fmla="val 12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41248" y="5038344"/>
            <a:ext cx="201168" cy="201168"/>
          </a:xfrm>
          <a:prstGeom prst="ellipse">
            <a:avLst/>
          </a:prstGeom>
          <a:solidFill>
            <a:srgbClr val="1FA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52728" y="4727448"/>
            <a:ext cx="40690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0B1F2A"/>
                </a:solidFill>
                <a:latin typeface="Carlito"/>
              </a:rPr>
              <a:t>Then a while loop: count down 3, 2, 1, Liftoff!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52160" y="1709928"/>
            <a:ext cx="5733288" cy="4023360"/>
          </a:xfrm>
          <a:prstGeom prst="roundRect">
            <a:avLst>
              <a:gd name="adj" fmla="val 4000"/>
            </a:avLst>
          </a:prstGeom>
          <a:solidFill>
            <a:srgbClr val="0B1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0" y="1938528"/>
            <a:ext cx="5184648" cy="3566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E2E8F0"/>
                </a:solidFill>
                <a:latin typeface="Courier New"/>
              </a:rPr>
              <a:t>2</a:t>
            </a:r>
          </a:p>
          <a:p>
            <a:pPr algn="l"/>
            <a:r>
              <a:rPr sz="1600" b="0">
                <a:solidFill>
                  <a:srgbClr val="E2E8F0"/>
                </a:solidFill>
                <a:latin typeface="Courier New"/>
              </a:rPr>
              <a:t>4</a:t>
            </a:r>
          </a:p>
          <a:p>
            <a:pPr algn="l"/>
            <a:r>
              <a:rPr sz="1600" b="0">
                <a:solidFill>
                  <a:srgbClr val="E2E8F0"/>
                </a:solidFill>
                <a:latin typeface="Courier New"/>
              </a:rPr>
              <a:t>6</a:t>
            </a:r>
          </a:p>
          <a:p>
            <a:pPr algn="l"/>
            <a:r>
              <a:rPr sz="1600" b="0">
                <a:solidFill>
                  <a:srgbClr val="E2E8F0"/>
                </a:solidFill>
                <a:latin typeface="Courier New"/>
              </a:rPr>
              <a:t>8</a:t>
            </a:r>
          </a:p>
          <a:p>
            <a:pPr algn="l"/>
            <a:r>
              <a:rPr sz="1600" b="0">
                <a:solidFill>
                  <a:srgbClr val="E2E8F0"/>
                </a:solidFill>
                <a:latin typeface="Courier New"/>
              </a:rPr>
              <a:t>10</a:t>
            </a:r>
          </a:p>
          <a:p>
            <a:pPr algn="l"/>
            <a:r>
              <a:rPr sz="1600" b="0">
                <a:solidFill>
                  <a:srgbClr val="E2E8F0"/>
                </a:solidFill>
                <a:latin typeface="Courier New"/>
              </a:rPr>
              <a:t>12</a:t>
            </a:r>
          </a:p>
          <a:p>
            <a:pPr algn="l"/>
            <a:r>
              <a:rPr sz="1600" b="0">
                <a:solidFill>
                  <a:srgbClr val="E2E8F0"/>
                </a:solidFill>
                <a:latin typeface="Courier New"/>
              </a:rPr>
              <a:t>14</a:t>
            </a:r>
          </a:p>
          <a:p>
            <a:pPr algn="l"/>
            <a:r>
              <a:rPr sz="1600" b="0">
                <a:solidFill>
                  <a:srgbClr val="E2E8F0"/>
                </a:solidFill>
                <a:latin typeface="Courier New"/>
              </a:rPr>
              <a:t>3</a:t>
            </a:r>
          </a:p>
          <a:p>
            <a:pPr algn="l"/>
            <a:r>
              <a:rPr sz="1600" b="0">
                <a:solidFill>
                  <a:srgbClr val="E2E8F0"/>
                </a:solidFill>
                <a:latin typeface="Courier New"/>
              </a:rPr>
              <a:t>2</a:t>
            </a:r>
          </a:p>
          <a:p>
            <a:pPr algn="l"/>
            <a:r>
              <a:rPr sz="1600" b="0">
                <a:solidFill>
                  <a:srgbClr val="E2E8F0"/>
                </a:solidFill>
                <a:latin typeface="Courier New"/>
              </a:rPr>
              <a:t>1</a:t>
            </a:r>
          </a:p>
          <a:p>
            <a:pPr algn="l"/>
            <a:r>
              <a:rPr sz="1600" b="0">
                <a:solidFill>
                  <a:srgbClr val="E2E8F0"/>
                </a:solidFill>
                <a:latin typeface="Courier New"/>
              </a:rPr>
              <a:t>Liftoff!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50" b="0">
                <a:solidFill>
                  <a:srgbClr val="6B7F8A"/>
                </a:solidFill>
                <a:latin typeface="Carlito"/>
              </a:rPr>
              <a:t>File: live-practice/03_even_numbers.py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12648" y="594360"/>
            <a:ext cx="10972800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0B1F2A"/>
                </a:solidFill>
                <a:latin typeface="Caladea Bold"/>
              </a:rPr>
              <a:t>Live practice 4: Shopping bill</a:t>
            </a:r>
          </a:p>
        </p:txBody>
      </p:sp>
      <p:sp>
        <p:nvSpPr>
          <p:cNvPr id="3" name="SlideNo"/>
          <p:cNvSpPr txBox="1"/>
          <p:nvPr/>
        </p:nvSpPr>
        <p:spPr>
          <a:xfrm>
            <a:off x="11219688" y="6373368"/>
            <a:ext cx="694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>
                <a:solidFill>
                  <a:srgbClr val="6B7F8A"/>
                </a:solidFill>
                <a:latin typeface="Carlito"/>
              </a:rPr>
              <a:t>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1887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50" b="0">
                <a:solidFill>
                  <a:srgbClr val="6B7F8A"/>
                </a:solidFill>
                <a:latin typeface="Carlito"/>
              </a:rPr>
              <a:t>Uses: functions with return · while and break · input · f-strings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" y="1709928"/>
            <a:ext cx="4937760" cy="822960"/>
          </a:xfrm>
          <a:prstGeom prst="roundRect">
            <a:avLst>
              <a:gd name="adj" fmla="val 12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41248" y="2020824"/>
            <a:ext cx="201168" cy="201168"/>
          </a:xfrm>
          <a:prstGeom prst="ellipse">
            <a:avLst/>
          </a:prstGeom>
          <a:solidFill>
            <a:srgbClr val="1FA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52728" y="1709928"/>
            <a:ext cx="40690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0B1F2A"/>
                </a:solidFill>
                <a:latin typeface="Carlito"/>
              </a:rPr>
              <a:t>Write item_total(price, quantity) with return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" y="2715768"/>
            <a:ext cx="4937760" cy="822960"/>
          </a:xfrm>
          <a:prstGeom prst="roundRect">
            <a:avLst>
              <a:gd name="adj" fmla="val 12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8" y="3026664"/>
            <a:ext cx="201168" cy="201168"/>
          </a:xfrm>
          <a:prstGeom prst="ellipse">
            <a:avLst/>
          </a:prstGeom>
          <a:solidFill>
            <a:srgbClr val="1FA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52728" y="2715768"/>
            <a:ext cx="40690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0B1F2A"/>
                </a:solidFill>
                <a:latin typeface="Carlito"/>
              </a:rPr>
              <a:t>while loop: ask price and quantity, add to total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" y="3721608"/>
            <a:ext cx="4937760" cy="822960"/>
          </a:xfrm>
          <a:prstGeom prst="roundRect">
            <a:avLst>
              <a:gd name="adj" fmla="val 12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41248" y="4032504"/>
            <a:ext cx="201168" cy="201168"/>
          </a:xfrm>
          <a:prstGeom prst="ellipse">
            <a:avLst/>
          </a:prstGeom>
          <a:solidFill>
            <a:srgbClr val="1FA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52728" y="3721608"/>
            <a:ext cx="40690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0B1F2A"/>
                </a:solidFill>
                <a:latin typeface="Carlito"/>
              </a:rPr>
              <a:t>Ask Another item? and break on no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" y="4727448"/>
            <a:ext cx="4937760" cy="822960"/>
          </a:xfrm>
          <a:prstGeom prst="roundRect">
            <a:avLst>
              <a:gd name="adj" fmla="val 12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41248" y="5038344"/>
            <a:ext cx="201168" cy="201168"/>
          </a:xfrm>
          <a:prstGeom prst="ellipse">
            <a:avLst/>
          </a:prstGeom>
          <a:solidFill>
            <a:srgbClr val="1FA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52728" y="4727448"/>
            <a:ext cx="40690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0B1F2A"/>
                </a:solidFill>
                <a:latin typeface="Carlito"/>
              </a:rPr>
              <a:t>Print the total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52160" y="1709928"/>
            <a:ext cx="5733288" cy="4023360"/>
          </a:xfrm>
          <a:prstGeom prst="roundRect">
            <a:avLst>
              <a:gd name="adj" fmla="val 4000"/>
            </a:avLst>
          </a:prstGeom>
          <a:solidFill>
            <a:srgbClr val="0B1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0" y="1938528"/>
            <a:ext cx="5184648" cy="3566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E2E8F0"/>
                </a:solidFill>
                <a:latin typeface="Courier New"/>
              </a:rPr>
              <a:t>Price: 2.5</a:t>
            </a:r>
          </a:p>
          <a:p>
            <a:pPr algn="l"/>
            <a:r>
              <a:rPr sz="1600" b="0">
                <a:solidFill>
                  <a:srgbClr val="E2E8F0"/>
                </a:solidFill>
                <a:latin typeface="Courier New"/>
              </a:rPr>
              <a:t>Quantity: 4</a:t>
            </a:r>
          </a:p>
          <a:p>
            <a:pPr algn="l"/>
            <a:r>
              <a:rPr sz="1600" b="0">
                <a:solidFill>
                  <a:srgbClr val="E2E8F0"/>
                </a:solidFill>
                <a:latin typeface="Courier New"/>
              </a:rPr>
              <a:t>Another item? (yes/no): yes</a:t>
            </a:r>
          </a:p>
          <a:p>
            <a:pPr algn="l"/>
            <a:r>
              <a:rPr sz="1600" b="0">
                <a:solidFill>
                  <a:srgbClr val="E2E8F0"/>
                </a:solidFill>
                <a:latin typeface="Courier New"/>
              </a:rPr>
              <a:t>Price: 10</a:t>
            </a:r>
          </a:p>
          <a:p>
            <a:pPr algn="l"/>
            <a:r>
              <a:rPr sz="1600" b="0">
                <a:solidFill>
                  <a:srgbClr val="E2E8F0"/>
                </a:solidFill>
                <a:latin typeface="Courier New"/>
              </a:rPr>
              <a:t>Quantity: 1</a:t>
            </a:r>
          </a:p>
          <a:p>
            <a:pPr algn="l"/>
            <a:r>
              <a:rPr sz="1600" b="0">
                <a:solidFill>
                  <a:srgbClr val="E2E8F0"/>
                </a:solidFill>
                <a:latin typeface="Courier New"/>
              </a:rPr>
              <a:t>Another item? (yes/no): no</a:t>
            </a:r>
          </a:p>
          <a:p>
            <a:pPr algn="l"/>
            <a:r>
              <a:rPr sz="1600" b="0">
                <a:solidFill>
                  <a:srgbClr val="E2E8F0"/>
                </a:solidFill>
                <a:latin typeface="Courier New"/>
              </a:rPr>
              <a:t>Total: $20.0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50" b="0">
                <a:solidFill>
                  <a:srgbClr val="6B7F8A"/>
                </a:solidFill>
                <a:latin typeface="Carlito"/>
              </a:rPr>
              <a:t>File: live-practice/04_shopping_bill.py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12648" y="594360"/>
            <a:ext cx="10972800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0B1F2A"/>
                </a:solidFill>
                <a:latin typeface="Caladea Bold"/>
              </a:rPr>
              <a:t>Homework</a:t>
            </a:r>
          </a:p>
        </p:txBody>
      </p:sp>
      <p:sp>
        <p:nvSpPr>
          <p:cNvPr id="3" name="SlideNo"/>
          <p:cNvSpPr txBox="1"/>
          <p:nvPr/>
        </p:nvSpPr>
        <p:spPr>
          <a:xfrm>
            <a:off x="11219688" y="6373368"/>
            <a:ext cx="694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>
                <a:solidFill>
                  <a:srgbClr val="6B7F8A"/>
                </a:solidFill>
                <a:latin typeface="Carlito"/>
              </a:rPr>
              <a:t>22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709928"/>
            <a:ext cx="10972800" cy="1207008"/>
          </a:xfrm>
          <a:prstGeom prst="roundRect">
            <a:avLst>
              <a:gd name="adj" fmla="val 12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8680" y="2057400"/>
            <a:ext cx="512064" cy="512064"/>
          </a:xfrm>
          <a:prstGeom prst="ellipse">
            <a:avLst/>
          </a:prstGeom>
          <a:solidFill>
            <a:srgbClr val="3B8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57400"/>
            <a:ext cx="51206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rlito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1801368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50" b="1">
                <a:solidFill>
                  <a:srgbClr val="0B1F2A"/>
                </a:solidFill>
                <a:latin typeface="Carlito"/>
              </a:rPr>
              <a:t>Multiplication table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167128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50" b="0">
                <a:solidFill>
                  <a:srgbClr val="6B7F8A"/>
                </a:solidFill>
                <a:latin typeface="Carlito"/>
              </a:rPr>
              <a:t>Ask for a number and print its table from 1 to 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" y="3081528"/>
            <a:ext cx="10972800" cy="1207008"/>
          </a:xfrm>
          <a:prstGeom prst="roundRect">
            <a:avLst>
              <a:gd name="adj" fmla="val 12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8680" y="3429000"/>
            <a:ext cx="512064" cy="512064"/>
          </a:xfrm>
          <a:prstGeom prst="ellipse">
            <a:avLst/>
          </a:prstGeom>
          <a:solidFill>
            <a:srgbClr val="3B8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429000"/>
            <a:ext cx="51206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rlito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3172968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50" b="1">
                <a:solidFill>
                  <a:srgbClr val="0B1F2A"/>
                </a:solidFill>
                <a:latin typeface="Carlito"/>
              </a:rPr>
              <a:t>Temperature converter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538728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50" b="0">
                <a:solidFill>
                  <a:srgbClr val="6B7F8A"/>
                </a:solidFill>
                <a:latin typeface="Carlito"/>
              </a:rPr>
              <a:t>A function that returns Fahrenheit, then say Hot or not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" y="4453128"/>
            <a:ext cx="10972800" cy="1207008"/>
          </a:xfrm>
          <a:prstGeom prst="roundRect">
            <a:avLst>
              <a:gd name="adj" fmla="val 12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68680" y="4800600"/>
            <a:ext cx="512064" cy="512064"/>
          </a:xfrm>
          <a:prstGeom prst="ellipse">
            <a:avLst/>
          </a:prstGeom>
          <a:solidFill>
            <a:srgbClr val="3B8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800600"/>
            <a:ext cx="51206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rlito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544568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50" b="1">
                <a:solidFill>
                  <a:srgbClr val="0B1F2A"/>
                </a:solidFill>
                <a:latin typeface="Carlito"/>
              </a:rPr>
              <a:t>Guess the number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4910328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50" b="0">
                <a:solidFill>
                  <a:srgbClr val="6B7F8A"/>
                </a:solidFill>
                <a:latin typeface="Carlito"/>
              </a:rPr>
              <a:t>Loop until the guess is right and count the tries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" y="59893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50" b="0">
                <a:solidFill>
                  <a:srgbClr val="6B7F8A"/>
                </a:solidFill>
                <a:latin typeface="Carlito"/>
              </a:rPr>
              <a:t>Files are in the homework folder. Push your work to your GitHub repo.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1256475" y="2314377"/>
            <a:ext cx="10484778" cy="1950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800" b="1" spc="141" kern="100" dirty="0">
                <a:solidFill>
                  <a:srgbClr val="FFFFFF"/>
                </a:solidFill>
                <a:latin typeface="Caladea Bold" pitchFamily="34" charset="0"/>
                <a:ea typeface="Caladea Bold" pitchFamily="34" charset="-122"/>
                <a:cs typeface="Caladea Bold" pitchFamily="34" charset="-120"/>
              </a:rPr>
              <a:t>Q&amp;A</a:t>
            </a:r>
            <a:endParaRPr lang="en-US" sz="128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12648" y="594360"/>
            <a:ext cx="10972800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0B1F2A"/>
                </a:solidFill>
                <a:latin typeface="Caladea Bold"/>
              </a:rPr>
              <a:t>The 8-week roadmap</a:t>
            </a:r>
          </a:p>
        </p:txBody>
      </p:sp>
      <p:sp>
        <p:nvSpPr>
          <p:cNvPr id="3" name="SlideNo"/>
          <p:cNvSpPr txBox="1"/>
          <p:nvPr/>
        </p:nvSpPr>
        <p:spPr>
          <a:xfrm>
            <a:off x="11219688" y="6373368"/>
            <a:ext cx="694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>
                <a:solidFill>
                  <a:srgbClr val="6B7F8A"/>
                </a:solidFill>
                <a:latin typeface="Carlito"/>
              </a:rPr>
              <a:t>24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709928"/>
            <a:ext cx="5367528" cy="978408"/>
          </a:xfrm>
          <a:prstGeom prst="roundRect">
            <a:avLst>
              <a:gd name="adj" fmla="val 12000"/>
            </a:avLst>
          </a:prstGeom>
          <a:solidFill>
            <a:srgbClr val="1FA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50392" y="1920240"/>
            <a:ext cx="557784" cy="55778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920240"/>
            <a:ext cx="557784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>
                <a:solidFill>
                  <a:srgbClr val="1FA67A"/>
                </a:solidFill>
                <a:latin typeface="Carlito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19" y="1709928"/>
            <a:ext cx="3108960" cy="9784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50" b="1">
                <a:solidFill>
                  <a:srgbClr val="FFFFFF"/>
                </a:solidFill>
                <a:latin typeface="Carlito"/>
              </a:rPr>
              <a:t>Setup &amp; Tooling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07992" y="2011680"/>
            <a:ext cx="1344168" cy="365760"/>
          </a:xfrm>
          <a:prstGeom prst="roundRect">
            <a:avLst>
              <a:gd name="adj" fmla="val 30000"/>
            </a:avLst>
          </a:prstGeom>
          <a:solidFill>
            <a:srgbClr val="0B1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7992" y="2011680"/>
            <a:ext cx="13441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rlito"/>
              </a:rPr>
              <a:t>Complete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" y="2871216"/>
            <a:ext cx="5367528" cy="978408"/>
          </a:xfrm>
          <a:prstGeom prst="roundRect">
            <a:avLst>
              <a:gd name="adj" fmla="val 12000"/>
            </a:avLst>
          </a:prstGeom>
          <a:solidFill>
            <a:srgbClr val="1FA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0392" y="3081528"/>
            <a:ext cx="557784" cy="55778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081528"/>
            <a:ext cx="557784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>
                <a:solidFill>
                  <a:srgbClr val="1FA67A"/>
                </a:solidFill>
                <a:latin typeface="Carlito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19" y="2871216"/>
            <a:ext cx="3108960" cy="9784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50" b="1">
                <a:solidFill>
                  <a:srgbClr val="FFFFFF"/>
                </a:solidFill>
                <a:latin typeface="Carlito"/>
              </a:rPr>
              <a:t>Python Fundamentals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07992" y="3172968"/>
            <a:ext cx="1344168" cy="365760"/>
          </a:xfrm>
          <a:prstGeom prst="roundRect">
            <a:avLst>
              <a:gd name="adj" fmla="val 30000"/>
            </a:avLst>
          </a:prstGeom>
          <a:solidFill>
            <a:srgbClr val="0B1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992" y="3172968"/>
            <a:ext cx="13441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rlito"/>
              </a:rPr>
              <a:t>Complete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" y="4032504"/>
            <a:ext cx="5367528" cy="978408"/>
          </a:xfrm>
          <a:prstGeom prst="roundRect">
            <a:avLst>
              <a:gd name="adj" fmla="val 12000"/>
            </a:avLst>
          </a:prstGeom>
          <a:solidFill>
            <a:srgbClr val="3B8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50392" y="4242816"/>
            <a:ext cx="557784" cy="55778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" y="4242816"/>
            <a:ext cx="557784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>
                <a:solidFill>
                  <a:srgbClr val="3B82C4"/>
                </a:solidFill>
                <a:latin typeface="Carlito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19" y="4032504"/>
            <a:ext cx="3108960" cy="9784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50" b="1">
                <a:solidFill>
                  <a:srgbClr val="FFFFFF"/>
                </a:solidFill>
                <a:latin typeface="Carlito"/>
              </a:rPr>
              <a:t>JavaScript Fundamentals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07992" y="4334256"/>
            <a:ext cx="1344168" cy="365760"/>
          </a:xfrm>
          <a:prstGeom prst="roundRect">
            <a:avLst>
              <a:gd name="adj" fmla="val 30000"/>
            </a:avLst>
          </a:prstGeom>
          <a:solidFill>
            <a:srgbClr val="0B1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07992" y="4334256"/>
            <a:ext cx="13441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rlito"/>
              </a:rPr>
              <a:t>Next Class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2648" y="5193792"/>
            <a:ext cx="5367528" cy="978408"/>
          </a:xfrm>
          <a:prstGeom prst="roundRect">
            <a:avLst>
              <a:gd name="adj" fmla="val 12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50392" y="5404104"/>
            <a:ext cx="557784" cy="557784"/>
          </a:xfrm>
          <a:prstGeom prst="ellipse">
            <a:avLst/>
          </a:prstGeom>
          <a:solidFill>
            <a:srgbClr val="3B8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0392" y="5404104"/>
            <a:ext cx="557784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rlito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19" y="5193792"/>
            <a:ext cx="4206240" cy="9784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50" b="1">
                <a:solidFill>
                  <a:srgbClr val="0B1F2A"/>
                </a:solidFill>
                <a:latin typeface="Carlito"/>
              </a:rPr>
              <a:t>Backend with FastAPI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1709928"/>
            <a:ext cx="5367528" cy="978408"/>
          </a:xfrm>
          <a:prstGeom prst="roundRect">
            <a:avLst>
              <a:gd name="adj" fmla="val 12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55664" y="1920240"/>
            <a:ext cx="557784" cy="557784"/>
          </a:xfrm>
          <a:prstGeom prst="ellipse">
            <a:avLst/>
          </a:prstGeom>
          <a:solidFill>
            <a:srgbClr val="3B8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55664" y="1920240"/>
            <a:ext cx="557784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rlito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51192" y="1709928"/>
            <a:ext cx="4206240" cy="9784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50" b="1">
                <a:solidFill>
                  <a:srgbClr val="0B1F2A"/>
                </a:solidFill>
                <a:latin typeface="Carlito"/>
              </a:rPr>
              <a:t>HTML, CSS &amp; Vanilla JS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2871216"/>
            <a:ext cx="5367528" cy="978408"/>
          </a:xfrm>
          <a:prstGeom prst="roundRect">
            <a:avLst>
              <a:gd name="adj" fmla="val 12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455664" y="3081528"/>
            <a:ext cx="557784" cy="557784"/>
          </a:xfrm>
          <a:prstGeom prst="ellipse">
            <a:avLst/>
          </a:prstGeom>
          <a:solidFill>
            <a:srgbClr val="3B8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55664" y="3081528"/>
            <a:ext cx="557784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rlito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51192" y="2871216"/>
            <a:ext cx="4206240" cy="9784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50" b="1">
                <a:solidFill>
                  <a:srgbClr val="0B1F2A"/>
                </a:solidFill>
                <a:latin typeface="Carlito"/>
              </a:rPr>
              <a:t>React, Rebuilt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4032504"/>
            <a:ext cx="5367528" cy="978408"/>
          </a:xfrm>
          <a:prstGeom prst="roundRect">
            <a:avLst>
              <a:gd name="adj" fmla="val 12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455664" y="4242816"/>
            <a:ext cx="557784" cy="557784"/>
          </a:xfrm>
          <a:prstGeom prst="ellipse">
            <a:avLst/>
          </a:prstGeom>
          <a:solidFill>
            <a:srgbClr val="3B8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55664" y="4242816"/>
            <a:ext cx="557784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rlito"/>
              </a:rPr>
              <a:t>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51192" y="4032504"/>
            <a:ext cx="4206240" cy="9784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50" b="1">
                <a:solidFill>
                  <a:srgbClr val="0B1F2A"/>
                </a:solidFill>
                <a:latin typeface="Carlito"/>
              </a:rPr>
              <a:t>Full-Stack Integration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0" y="5193792"/>
            <a:ext cx="5367528" cy="978408"/>
          </a:xfrm>
          <a:prstGeom prst="roundRect">
            <a:avLst>
              <a:gd name="adj" fmla="val 12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455664" y="5404104"/>
            <a:ext cx="557784" cy="557784"/>
          </a:xfrm>
          <a:prstGeom prst="ellipse">
            <a:avLst/>
          </a:prstGeom>
          <a:solidFill>
            <a:srgbClr val="3B8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55664" y="5404104"/>
            <a:ext cx="557784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rlito"/>
              </a:rPr>
              <a:t>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51192" y="5193792"/>
            <a:ext cx="4206240" cy="9784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50" b="1">
                <a:solidFill>
                  <a:srgbClr val="0B1F2A"/>
                </a:solidFill>
                <a:latin typeface="Carlito"/>
              </a:rPr>
              <a:t>Capstone &amp; Demo Day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1256475" y="2314377"/>
            <a:ext cx="10484778" cy="1950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800" b="1" spc="141" kern="100" dirty="0">
                <a:solidFill>
                  <a:srgbClr val="FFFFFF"/>
                </a:solidFill>
                <a:latin typeface="Caladea Bold" pitchFamily="34" charset="0"/>
                <a:ea typeface="Caladea Bold" pitchFamily="34" charset="-122"/>
                <a:cs typeface="Caladea Bold" pitchFamily="34" charset="-120"/>
              </a:rPr>
              <a:t>Thank you</a:t>
            </a:r>
            <a:endParaRPr lang="en-US" sz="128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12648" y="594360"/>
            <a:ext cx="10972800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0B1F2A"/>
                </a:solidFill>
                <a:latin typeface="Caladea Bold"/>
              </a:rPr>
              <a:t>Your instructors</a:t>
            </a:r>
          </a:p>
        </p:txBody>
      </p:sp>
      <p:sp>
        <p:nvSpPr>
          <p:cNvPr id="3" name="SlideNo"/>
          <p:cNvSpPr txBox="1"/>
          <p:nvPr/>
        </p:nvSpPr>
        <p:spPr>
          <a:xfrm>
            <a:off x="11219688" y="6373368"/>
            <a:ext cx="694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>
                <a:solidFill>
                  <a:srgbClr val="6B7F8A"/>
                </a:solidFill>
                <a:latin typeface="Carlito"/>
              </a:rPr>
              <a:t>3</a:t>
            </a:r>
          </a:p>
        </p:txBody>
      </p:sp>
      <p:sp>
        <p:nvSpPr>
          <p:cNvPr id="4" name="Oval 3"/>
          <p:cNvSpPr/>
          <p:nvPr/>
        </p:nvSpPr>
        <p:spPr>
          <a:xfrm>
            <a:off x="612648" y="1600200"/>
            <a:ext cx="1920240" cy="1920240"/>
          </a:xfrm>
          <a:prstGeom prst="ellipse">
            <a:avLst/>
          </a:prstGeom>
          <a:solidFill>
            <a:srgbClr val="3B8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73352"/>
            <a:ext cx="1773936" cy="17739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61488" y="201168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B1F2A"/>
                </a:solidFill>
                <a:latin typeface="Caladea Bold"/>
              </a:rPr>
              <a:t>Raji RV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61488" y="260604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50" b="1">
                <a:solidFill>
                  <a:srgbClr val="3B82C4"/>
                </a:solidFill>
                <a:latin typeface="Carlito"/>
              </a:rPr>
              <a:t>AI – FDE  ·  IBM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" y="3703320"/>
            <a:ext cx="5367528" cy="731520"/>
          </a:xfrm>
          <a:prstGeom prst="roundRect">
            <a:avLst>
              <a:gd name="adj" fmla="val 12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8" y="3968496"/>
            <a:ext cx="201168" cy="201168"/>
          </a:xfrm>
          <a:prstGeom prst="ellipse">
            <a:avLst/>
          </a:prstGeom>
          <a:solidFill>
            <a:srgbClr val="3B8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52728" y="3703320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0B1F2A"/>
                </a:solidFill>
                <a:latin typeface="Carlito"/>
              </a:rPr>
              <a:t>Enterprise AI &amp; Agentic Systems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" y="4572000"/>
            <a:ext cx="5367528" cy="731520"/>
          </a:xfrm>
          <a:prstGeom prst="roundRect">
            <a:avLst>
              <a:gd name="adj" fmla="val 12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41248" y="4837176"/>
            <a:ext cx="201168" cy="201168"/>
          </a:xfrm>
          <a:prstGeom prst="ellipse">
            <a:avLst/>
          </a:prstGeom>
          <a:solidFill>
            <a:srgbClr val="3B8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52728" y="4572000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0B1F2A"/>
                </a:solidFill>
                <a:latin typeface="Carlito"/>
              </a:rPr>
              <a:t>From Prototype to Production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" y="5440679"/>
            <a:ext cx="5367528" cy="731520"/>
          </a:xfrm>
          <a:prstGeom prst="roundRect">
            <a:avLst>
              <a:gd name="adj" fmla="val 12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41248" y="5705855"/>
            <a:ext cx="201168" cy="201168"/>
          </a:xfrm>
          <a:prstGeom prst="ellipse">
            <a:avLst/>
          </a:prstGeom>
          <a:solidFill>
            <a:srgbClr val="3B8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52728" y="5440679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0B1F2A"/>
                </a:solidFill>
                <a:latin typeface="Carlito"/>
              </a:rPr>
              <a:t>Leading Women 2026</a:t>
            </a:r>
          </a:p>
        </p:txBody>
      </p:sp>
      <p:sp>
        <p:nvSpPr>
          <p:cNvPr id="17" name="Oval 16"/>
          <p:cNvSpPr/>
          <p:nvPr/>
        </p:nvSpPr>
        <p:spPr>
          <a:xfrm>
            <a:off x="6217920" y="1600200"/>
            <a:ext cx="1920240" cy="1920240"/>
          </a:xfrm>
          <a:prstGeom prst="ellipse">
            <a:avLst/>
          </a:prstGeom>
          <a:solidFill>
            <a:srgbClr val="1FA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1673352"/>
            <a:ext cx="1773936" cy="177393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366760" y="201168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B1F2A"/>
                </a:solidFill>
                <a:latin typeface="Caladea Bold"/>
              </a:rPr>
              <a:t>Faisal 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60604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50" b="1">
                <a:solidFill>
                  <a:srgbClr val="3B82C4"/>
                </a:solidFill>
                <a:latin typeface="Carlito"/>
              </a:rPr>
              <a:t>AI – FDE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03320"/>
            <a:ext cx="5367528" cy="731520"/>
          </a:xfrm>
          <a:prstGeom prst="roundRect">
            <a:avLst>
              <a:gd name="adj" fmla="val 12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46520" y="3968496"/>
            <a:ext cx="201168" cy="201168"/>
          </a:xfrm>
          <a:prstGeom prst="ellipse">
            <a:avLst/>
          </a:prstGeom>
          <a:solidFill>
            <a:srgbClr val="1FA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3703320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0B1F2A"/>
                </a:solidFill>
                <a:latin typeface="Carlito"/>
              </a:rPr>
              <a:t>Full-stack developer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4572000"/>
            <a:ext cx="5367528" cy="731520"/>
          </a:xfrm>
          <a:prstGeom prst="roundRect">
            <a:avLst>
              <a:gd name="adj" fmla="val 12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46520" y="4837176"/>
            <a:ext cx="201168" cy="201168"/>
          </a:xfrm>
          <a:prstGeom prst="ellipse">
            <a:avLst/>
          </a:prstGeom>
          <a:solidFill>
            <a:srgbClr val="1FA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0" y="4572000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0B1F2A"/>
                </a:solidFill>
                <a:latin typeface="Carlito"/>
              </a:rPr>
              <a:t>Software engineer (SDE)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5440679"/>
            <a:ext cx="5367528" cy="731520"/>
          </a:xfrm>
          <a:prstGeom prst="roundRect">
            <a:avLst>
              <a:gd name="adj" fmla="val 12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46520" y="5705855"/>
            <a:ext cx="201168" cy="201168"/>
          </a:xfrm>
          <a:prstGeom prst="ellipse">
            <a:avLst/>
          </a:prstGeom>
          <a:solidFill>
            <a:srgbClr val="1FA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0" y="5440679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0B1F2A"/>
                </a:solidFill>
                <a:latin typeface="Carlito"/>
              </a:rPr>
              <a:t>AI engineer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  <dcterms:created xsi:type="dcterms:W3CDTF">2026-10-17T08:37:58Z</dcterms:created>
  <dcterms:modified xsi:type="dcterms:W3CDTF">2026-10-17T08:37:58Z</dcterms:modified>
</cp:coreProperties>
</file>